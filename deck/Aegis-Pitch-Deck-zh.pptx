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pt-aegis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pt-aegis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C1424"/>
            </a:gs>
            <a:gs pos="100000">
              <a:srgbClr val="070B14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9"/>
          <p:cNvGrpSpPr/>
          <p:nvPr/>
        </p:nvGrpSpPr>
        <p:grpSpPr>
          <a:xfrm>
            <a:off x="0" y="0"/>
            <a:ext cx="12201525" cy="6867525"/>
            <a:chOff x="0" y="0"/>
            <a:chExt cx="12201525" cy="6867525"/>
          </a:xfrm>
        </p:grpSpPr>
        <p:sp>
          <p:nvSpPr>
            <p:cNvPr id="2" name="Line 2"/>
            <p:cNvSpPr/>
            <p:nvPr/>
          </p:nvSpPr>
          <p:spPr>
            <a:xfrm>
              <a:off x="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76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28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381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533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685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762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838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990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1143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219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0" y="76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0" y="152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0" y="3810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0" y="533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0" y="685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8096250" y="857250"/>
            <a:ext cx="3810000" cy="3810000"/>
            <a:chOff x="8096250" y="857250"/>
            <a:chExt cx="3810000" cy="3810000"/>
          </a:xfrm>
        </p:grpSpPr>
        <p:sp>
          <p:nvSpPr>
            <p:cNvPr id="30" name="Ellipse 30"/>
            <p:cNvSpPr/>
            <p:nvPr/>
          </p:nvSpPr>
          <p:spPr>
            <a:xfrm>
              <a:off x="8096250" y="857250"/>
              <a:ext cx="3810000" cy="3810000"/>
            </a:xfrm>
            <a:prstGeom prst="ellipse">
              <a:avLst/>
            </a:prstGeom>
            <a:noFill/>
            <a:ln w="9525">
              <a:solidFill>
                <a:srgbClr val="22D3EE">
                  <a:alpha val="18000"/>
                </a:srgbClr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8591550" y="1352550"/>
              <a:ext cx="2819400" cy="2819400"/>
            </a:xfrm>
            <a:prstGeom prst="ellipse">
              <a:avLst/>
            </a:prstGeom>
            <a:noFill/>
            <a:ln w="9525">
              <a:solidFill>
                <a:srgbClr val="22D3EE">
                  <a:alpha val="26000"/>
                </a:srgbClr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9086850" y="1847850"/>
              <a:ext cx="1828800" cy="1828800"/>
            </a:xfrm>
            <a:prstGeom prst="ellipse">
              <a:avLst/>
            </a:prstGeom>
            <a:noFill/>
            <a:ln w="14288">
              <a:solidFill>
                <a:srgbClr val="F0B90B">
                  <a:alpha val="50000"/>
                </a:srgbClr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9601200" y="2362200"/>
              <a:ext cx="800100" cy="800100"/>
            </a:xfrm>
            <a:prstGeom prst="ellipse">
              <a:avLst/>
            </a:prstGeom>
            <a:solidFill>
              <a:srgbClr val="F0B90B">
                <a:alpha val="10000"/>
              </a:srgbClr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9915525" y="2676525"/>
              <a:ext cx="171450" cy="171450"/>
            </a:xfrm>
            <a:prstGeom prst="ellipse">
              <a:avLst/>
            </a:prstGeom>
            <a:solidFill>
              <a:srgbClr val="F0B90B"/>
            </a:solidFill>
            <a:ln>
              <a:noFill/>
            </a:ln>
            <a:effectLst>
              <a:glow rad="133350">
                <a:srgbClr val="000000">
                  <a:alpha val="30000"/>
                </a:srgbClr>
              </a:glow>
            </a:effectLst>
          </p:spPr>
        </p:sp>
        <p:sp>
          <p:nvSpPr>
            <p:cNvPr id="35" name="Ellipse 35"/>
            <p:cNvSpPr/>
            <p:nvPr/>
          </p:nvSpPr>
          <p:spPr>
            <a:xfrm>
              <a:off x="9944100" y="1295400"/>
              <a:ext cx="114300" cy="114300"/>
            </a:xfrm>
            <a:prstGeom prst="ellipse">
              <a:avLst/>
            </a:prstGeom>
            <a:solidFill>
              <a:srgbClr val="22D3EE"/>
            </a:solidFill>
            <a:ln>
              <a:noFill/>
            </a:ln>
            <a:effectLst>
              <a:glow rad="57150">
                <a:srgbClr val="000000">
                  <a:alpha val="30000"/>
                </a:srgbClr>
              </a:glow>
            </a:effectLst>
          </p:spPr>
        </p:sp>
        <p:sp>
          <p:nvSpPr>
            <p:cNvPr id="36" name="Ellipse 36"/>
            <p:cNvSpPr/>
            <p:nvPr/>
          </p:nvSpPr>
          <p:spPr>
            <a:xfrm>
              <a:off x="11363325" y="2714625"/>
              <a:ext cx="95250" cy="95250"/>
            </a:xfrm>
            <a:prstGeom prst="ellipse">
              <a:avLst/>
            </a:prstGeom>
            <a:solidFill>
              <a:srgbClr val="22D3EE">
                <a:alpha val="80000"/>
              </a:srgbClr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9039225" y="3629025"/>
              <a:ext cx="95250" cy="95250"/>
            </a:xfrm>
            <a:prstGeom prst="ellipse">
              <a:avLst/>
            </a:prstGeom>
            <a:solidFill>
              <a:srgbClr val="F0B90B">
                <a:alpha val="70000"/>
              </a:srgbClr>
            </a:solidFill>
            <a:ln>
              <a:noFill/>
            </a:ln>
          </p:spPr>
        </p:sp>
      </p:grpSp>
      <p:sp>
        <p:nvSpPr>
          <p:cNvPr id="39" name="Line 39"/>
          <p:cNvSpPr/>
          <p:nvPr/>
        </p:nvSpPr>
        <p:spPr>
          <a:xfrm>
            <a:off x="0" y="3143250"/>
            <a:ext cx="12192000" cy="2190750"/>
          </a:xfrm>
          <a:custGeom>
            <a:avLst/>
            <a:gdLst/>
            <a:ahLst/>
            <a:cxnLst/>
            <a:rect l="l" t="t" r="r" b="b"/>
            <a:pathLst>
              <a:path w="12192000" h="2190750">
                <a:moveTo>
                  <a:pt x="0" y="2190750"/>
                </a:moveTo>
                <a:lnTo>
                  <a:pt x="12192000" y="0"/>
                </a:lnTo>
              </a:path>
            </a:pathLst>
          </a:custGeom>
          <a:noFill/>
          <a:ln w="14288">
            <a:gradFill>
              <a:gsLst>
                <a:gs pos="0">
                  <a:srgbClr val="F0B90B">
                    <a:alpha val="35000"/>
                  </a:srgbClr>
                </a:gs>
                <a:gs pos="100000">
                  <a:srgbClr val="22D3EE">
                    <a:alpha val="35000"/>
                  </a:srgbClr>
                </a:gs>
              </a:gsLst>
              <a:lin ang="0" scaled="1"/>
            </a:gradFill>
          </a:ln>
        </p:spPr>
      </p:sp>
      <p:grpSp>
        <p:nvGrpSpPr>
          <p:cNvPr id="45" name="Group 45"/>
          <p:cNvGrpSpPr/>
          <p:nvPr/>
        </p:nvGrpSpPr>
        <p:grpSpPr>
          <a:xfrm>
            <a:off x="666750" y="1307306"/>
            <a:ext cx="5023967" cy="3428333"/>
            <a:chOff x="666750" y="1307306"/>
            <a:chExt cx="5023967" cy="3428333"/>
          </a:xfrm>
        </p:grpSpPr>
        <p:sp>
          <p:nvSpPr>
            <p:cNvPr id="40" name="TextBox 40"/>
            <p:cNvSpPr txBox="1"/>
            <p:nvPr/>
          </p:nvSpPr>
          <p:spPr>
            <a:xfrm>
              <a:off x="680085" y="1307306"/>
              <a:ext cx="29654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spc="300" dirty="0">
                  <a:solidFill>
                    <a:srgbClr val="F0B90B"/>
                  </a:solidFill>
                  <a:latin typeface="Consolas"/>
                  <a:ea typeface="Consolas"/>
                  <a:cs typeface="Consolas"/>
                </a:rPr>
                <a:t>EXECUTION CONTROL PLANE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6750" y="1687830"/>
              <a:ext cx="3468929" cy="1847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600" b="1" dirty="0">
                  <a:solidFill>
                    <a:srgbClr val="EAF0FB"/>
                  </a:solidFill>
                  <a:latin typeface="Arial"/>
                  <a:ea typeface="Arial"/>
                  <a:cs typeface="Arial"/>
                </a:rPr>
                <a:t>Aegis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85800" y="3067050"/>
              <a:ext cx="1905000" cy="47625"/>
            </a:xfrm>
            <a:prstGeom prst="rect">
              <a:avLst/>
            </a:prstGeom>
            <a:gradFill>
              <a:gsLst>
                <a:gs pos="0">
                  <a:srgbClr val="F0B90B"/>
                </a:gs>
                <a:gs pos="100000">
                  <a:srgbClr val="22D3EE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2846" y="3496628"/>
              <a:ext cx="50178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0B90B"/>
                  </a:solidFill>
                  <a:latin typeface="Arial"/>
                  <a:ea typeface="Microsoft YaHei"/>
                  <a:cs typeface="Arial"/>
                </a:rPr>
                <a:t>币安 Agent OS 的执行控制平面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7418" y="4070032"/>
              <a:ext cx="3180969" cy="6656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65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代理提议 · Aegis 裁决 · 币安执行</a:t>
              </a:r>
              <a:br/>
              <a:r>
                <a:rPr lang="zh-CN" sz="165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执行链路中没有任何 LLM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85800" y="5029200"/>
            <a:ext cx="6667500" cy="609600"/>
            <a:chOff x="685800" y="5029200"/>
            <a:chExt cx="6667500" cy="609600"/>
          </a:xfrm>
        </p:grpSpPr>
        <p:sp>
          <p:nvSpPr>
            <p:cNvPr id="46" name="Rectangle 46"/>
            <p:cNvSpPr/>
            <p:nvPr/>
          </p:nvSpPr>
          <p:spPr>
            <a:xfrm>
              <a:off x="685800" y="5029200"/>
              <a:ext cx="6667500" cy="609600"/>
            </a:xfrm>
            <a:prstGeom prst="roundRect">
              <a:avLst>
                <a:gd name="adj" fmla="val 9375"/>
              </a:avLst>
            </a:prstGeom>
            <a:solidFill>
              <a:srgbClr val="111A2E">
                <a:alpha val="55000"/>
              </a:srgbClr>
            </a:solidFill>
            <a:ln w="9525">
              <a:solidFill>
                <a:srgbClr val="22304C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81456" y="512064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0B90B"/>
                  </a:solidFill>
                  <a:latin typeface="Consolas"/>
                  <a:ea typeface="Consolas"/>
                  <a:cs typeface="Consolas"/>
                </a:rPr>
                <a:t>23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85647" y="541924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确定性规则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2286000" y="51816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9525">
              <a:solidFill>
                <a:srgbClr val="22304C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2581656" y="5120640"/>
              <a:ext cx="4181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0B90B"/>
                  </a:solidFill>
                  <a:latin typeface="Consolas"/>
                  <a:ea typeface="Consolas"/>
                  <a:cs typeface="Consolas"/>
                </a:rPr>
                <a:t>333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585847" y="541924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测试全部通过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4038600" y="51816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9525">
              <a:solidFill>
                <a:srgbClr val="22304C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334256" y="51206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0B90B"/>
                  </a:solidFill>
                  <a:latin typeface="Consolas"/>
                  <a:ea typeface="Consolas"/>
                  <a:cs typeface="Consolas"/>
                </a:rPr>
                <a:t>0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338447" y="541924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运行时依赖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5638800" y="51816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9525">
              <a:solidFill>
                <a:srgbClr val="22304C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934456" y="512064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0B90B"/>
                  </a:solidFill>
                  <a:latin typeface="Consolas"/>
                  <a:ea typeface="Consolas"/>
                  <a:cs typeface="Consolas"/>
                </a:rPr>
                <a:t>28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938647" y="541924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缺陷公开记录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80847" y="6305550"/>
            <a:ext cx="10830306" cy="333089"/>
            <a:chOff x="680847" y="6305550"/>
            <a:chExt cx="10830306" cy="333089"/>
          </a:xfrm>
        </p:grpSpPr>
        <p:sp>
          <p:nvSpPr>
            <p:cNvPr id="59" name="Line 59"/>
            <p:cNvSpPr/>
            <p:nvPr/>
          </p:nvSpPr>
          <p:spPr>
            <a:xfrm>
              <a:off x="685800" y="63055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22304C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80847" y="6447949"/>
              <a:ext cx="36342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8A99B8"/>
                  </a:solidFill>
                  <a:latin typeface="Consolas"/>
                  <a:ea typeface="Consolas"/>
                  <a:cs typeface="Consolas"/>
                </a:rPr>
                <a:t>AEGIS · Binance Agent OS Mini Hackathon · Track A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356127" y="644794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F0B90B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C1424"/>
            </a:gs>
            <a:gs pos="100000">
              <a:srgbClr val="070B14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9"/>
          <p:cNvGrpSpPr/>
          <p:nvPr/>
        </p:nvGrpSpPr>
        <p:grpSpPr>
          <a:xfrm>
            <a:off x="0" y="0"/>
            <a:ext cx="12201525" cy="6867525"/>
            <a:chOff x="0" y="0"/>
            <a:chExt cx="12201525" cy="6867525"/>
          </a:xfrm>
        </p:grpSpPr>
        <p:sp>
          <p:nvSpPr>
            <p:cNvPr id="2" name="Line 2"/>
            <p:cNvSpPr/>
            <p:nvPr/>
          </p:nvSpPr>
          <p:spPr>
            <a:xfrm>
              <a:off x="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76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28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381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533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685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762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838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990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1143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219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0" y="76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0" y="152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0" y="3810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0" y="533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0" y="685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670560" y="469106"/>
            <a:ext cx="3665220" cy="784384"/>
            <a:chOff x="670560" y="469106"/>
            <a:chExt cx="3665220" cy="784384"/>
          </a:xfrm>
        </p:grpSpPr>
        <p:sp>
          <p:nvSpPr>
            <p:cNvPr id="30" name="TextBox 30"/>
            <p:cNvSpPr txBox="1"/>
            <p:nvPr/>
          </p:nvSpPr>
          <p:spPr>
            <a:xfrm>
              <a:off x="680085" y="469106"/>
              <a:ext cx="8167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spc="225" dirty="0">
                  <a:solidFill>
                    <a:srgbClr val="F0B90B"/>
                  </a:solidFill>
                  <a:latin typeface="Consolas"/>
                  <a:ea typeface="Consolas"/>
                  <a:cs typeface="Consolas"/>
                </a:rPr>
                <a:t>THE GAP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0560" y="666750"/>
              <a:ext cx="36652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EAF0FB"/>
                  </a:solidFill>
                  <a:latin typeface="Arial"/>
                  <a:ea typeface="Microsoft YaHei"/>
                  <a:cs typeface="Arial"/>
                </a:rPr>
                <a:t>被留给用户的那一层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85800" y="1181100"/>
              <a:ext cx="1143000" cy="38100"/>
            </a:xfrm>
            <a:prstGeom prst="rect">
              <a:avLst/>
            </a:prstGeom>
            <a:gradFill>
              <a:gsLst>
                <a:gs pos="0">
                  <a:srgbClr val="F0B90B"/>
                </a:gs>
                <a:gs pos="100000">
                  <a:srgbClr val="22D3EE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685800" y="1580198"/>
            <a:ext cx="6858000" cy="2020252"/>
            <a:chOff x="685800" y="1580198"/>
            <a:chExt cx="6858000" cy="2020252"/>
          </a:xfrm>
        </p:grpSpPr>
        <p:sp>
          <p:nvSpPr>
            <p:cNvPr id="34" name="Rectangle 34"/>
            <p:cNvSpPr/>
            <p:nvPr/>
          </p:nvSpPr>
          <p:spPr>
            <a:xfrm>
              <a:off x="685800" y="1600200"/>
              <a:ext cx="6858000" cy="2000250"/>
            </a:xfrm>
            <a:prstGeom prst="roundRect">
              <a:avLst>
                <a:gd name="adj" fmla="val 3810"/>
              </a:avLst>
            </a:prstGeom>
            <a:solidFill>
              <a:srgbClr val="F0B90B">
                <a:alpha val="7000"/>
              </a:srgbClr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85800" y="1600200"/>
              <a:ext cx="38100" cy="2000250"/>
            </a:xfrm>
            <a:prstGeom prst="rect">
              <a:avLst/>
            </a:prstGeom>
            <a:solidFill>
              <a:srgbClr val="F0B90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47750" y="1580198"/>
              <a:ext cx="422928" cy="962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950" b="1" dirty="0">
                  <a:solidFill>
                    <a:srgbClr val="F0B90B">
                      <a:alphaMod val="35000"/>
                    </a:srgbClr>
                  </a:solidFill>
                  <a:latin typeface="Arial"/>
                  <a:ea typeface="Arial"/>
                  <a:cs typeface="Arial"/>
                </a:rPr>
                <a:t>“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57275" y="2388394"/>
              <a:ext cx="3762807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EAF0FB"/>
                  </a:solidFill>
                  <a:latin typeface="Arial"/>
                  <a:ea typeface="Microsoft YaHei"/>
                  <a:cs typeface="Arial"/>
                </a:rPr>
                <a:t>币安现在允许 AI 代理进行交易,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57275" y="2769394"/>
              <a:ext cx="4720748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0B90B"/>
                  </a:solidFill>
                  <a:latin typeface="Arial"/>
                  <a:ea typeface="Microsoft YaHei"/>
                  <a:cs typeface="Arial"/>
                </a:rPr>
                <a:t>但管住它们这件事,基本上要靠用户自己。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61466" y="3239452"/>
              <a:ext cx="24051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A99B8"/>
                  </a:solidFill>
                  <a:latin typeface="Consolas"/>
                  <a:ea typeface="Microsoft YaHei"/>
                  <a:cs typeface="Consolas"/>
                </a:rPr>
                <a:t>— TechCrunch,2026 年 8 月 20 日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924800" y="1676400"/>
            <a:ext cx="1679100" cy="2067973"/>
            <a:chOff x="7924800" y="1676400"/>
            <a:chExt cx="1679100" cy="2067973"/>
          </a:xfrm>
        </p:grpSpPr>
        <p:sp>
          <p:nvSpPr>
            <p:cNvPr id="41" name="TextBox 41"/>
            <p:cNvSpPr txBox="1"/>
            <p:nvPr/>
          </p:nvSpPr>
          <p:spPr>
            <a:xfrm>
              <a:off x="8146161" y="1713071"/>
              <a:ext cx="10754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谁限制金额?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146161" y="2151221"/>
              <a:ext cx="10754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谁限制频率?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146161" y="2589371"/>
              <a:ext cx="10754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谁限制杠杆?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146161" y="3027521"/>
              <a:ext cx="145773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谁阻止失控循环?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146161" y="3465671"/>
              <a:ext cx="88425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谁做审计?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7924800" y="1676400"/>
              <a:ext cx="9525" cy="2057400"/>
            </a:xfrm>
            <a:custGeom>
              <a:avLst/>
              <a:gdLst/>
              <a:ahLst/>
              <a:cxnLst/>
              <a:rect l="l" t="t" r="r" b="b"/>
              <a:pathLst>
                <a:path w="9525" h="2057400">
                  <a:moveTo>
                    <a:pt x="0" y="0"/>
                  </a:moveTo>
                  <a:lnTo>
                    <a:pt x="0" y="2057400"/>
                  </a:lnTo>
                </a:path>
              </a:pathLst>
            </a:custGeom>
            <a:noFill/>
            <a:ln w="9525">
              <a:solidFill>
                <a:srgbClr val="22304C"/>
              </a:solidFill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685800" y="4038600"/>
            <a:ext cx="10820400" cy="1676400"/>
            <a:chOff x="685800" y="4038600"/>
            <a:chExt cx="10820400" cy="1676400"/>
          </a:xfrm>
        </p:grpSpPr>
        <p:sp>
          <p:nvSpPr>
            <p:cNvPr id="48" name="Rectangle 48"/>
            <p:cNvSpPr/>
            <p:nvPr/>
          </p:nvSpPr>
          <p:spPr>
            <a:xfrm>
              <a:off x="685800" y="4038600"/>
              <a:ext cx="10820400" cy="1676400"/>
            </a:xfrm>
            <a:prstGeom prst="roundRect">
              <a:avLst>
                <a:gd name="adj" fmla="val 4545"/>
              </a:avLst>
            </a:prstGeom>
            <a:solidFill>
              <a:srgbClr val="111A2E"/>
            </a:solidFill>
            <a:ln w="9525">
              <a:solidFill>
                <a:srgbClr val="22304C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57656" y="4320540"/>
              <a:ext cx="98137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0FB"/>
                  </a:solidFill>
                  <a:latin typeface="Arial"/>
                  <a:ea typeface="Microsoft YaHei"/>
                  <a:cs typeface="Arial"/>
                </a:rPr>
                <a:t>币安把</a:t>
              </a:r>
              <a:r>
                <a:rPr lang="zh-CN" sz="1800" b="1" dirty="0">
                  <a:solidFill>
                    <a:srgbClr val="22D3EE"/>
                  </a:solidFill>
                  <a:latin typeface="Arial"/>
                  <a:ea typeface="Microsoft YaHei"/>
                  <a:cs typeface="Arial"/>
                </a:rPr>
                <a:t>执行轨道</a:t>
              </a:r>
              <a:r>
                <a:rPr lang="zh-CN" sz="1800" dirty="0">
                  <a:solidFill>
                    <a:srgbClr val="EAF0FB"/>
                  </a:solidFill>
                  <a:latin typeface="Arial"/>
                  <a:ea typeface="Microsoft YaHei"/>
                  <a:cs typeface="Arial"/>
                </a:rPr>
                <a:t>造得很出色 —— MCP 服务器、binance-cli、Agentic 子账户、执行前确认。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57656" y="4720590"/>
              <a:ext cx="76633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0FB"/>
                  </a:solidFill>
                  <a:latin typeface="Arial"/>
                  <a:ea typeface="Microsoft YaHei"/>
                  <a:cs typeface="Arial"/>
                </a:rPr>
                <a:t>它有意留给用户的,是</a:t>
              </a:r>
              <a:r>
                <a:rPr lang="zh-CN" sz="1800" b="1" dirty="0">
                  <a:solidFill>
                    <a:srgbClr val="F0B90B"/>
                  </a:solidFill>
                  <a:latin typeface="Arial"/>
                  <a:ea typeface="Microsoft YaHei"/>
                  <a:cs typeface="Arial"/>
                </a:rPr>
                <a:t>策略与风控层</a:t>
              </a:r>
              <a:r>
                <a:rPr lang="zh-CN" sz="1800" dirty="0">
                  <a:solidFill>
                    <a:srgbClr val="EAF0FB"/>
                  </a:solidFill>
                  <a:latin typeface="Arial"/>
                  <a:ea typeface="Microsoft YaHei"/>
                  <a:cs typeface="Arial"/>
                </a:rPr>
                <a:t>。而今天这一层住在系统提示词里。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1066800" y="5143500"/>
              <a:ext cx="5715000" cy="381000"/>
            </a:xfrm>
            <a:prstGeom prst="roundRect">
              <a:avLst>
                <a:gd name="adj" fmla="val 10000"/>
              </a:avLst>
            </a:prstGeom>
            <a:solidFill>
              <a:srgbClr val="F0616D">
                <a:alpha val="10000"/>
              </a:srgbClr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249299" y="5230654"/>
              <a:ext cx="278109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0616D"/>
                  </a:solidFill>
                  <a:latin typeface="Arial"/>
                  <a:ea typeface="Microsoft YaHei"/>
                  <a:cs typeface="Arial"/>
                </a:rPr>
                <a:t>而系统提示词不是风控措施。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80847" y="6305550"/>
            <a:ext cx="10830306" cy="333089"/>
            <a:chOff x="680847" y="6305550"/>
            <a:chExt cx="10830306" cy="333089"/>
          </a:xfrm>
        </p:grpSpPr>
        <p:sp>
          <p:nvSpPr>
            <p:cNvPr id="54" name="Line 54"/>
            <p:cNvSpPr/>
            <p:nvPr/>
          </p:nvSpPr>
          <p:spPr>
            <a:xfrm>
              <a:off x="685800" y="63055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22304C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80847" y="6447949"/>
              <a:ext cx="36342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8A99B8"/>
                  </a:solidFill>
                  <a:latin typeface="Consolas"/>
                  <a:ea typeface="Consolas"/>
                  <a:cs typeface="Consolas"/>
                </a:rPr>
                <a:t>AEGIS · Binance Agent OS Mini Hackathon · Track A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356127" y="644794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F0B90B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C1424"/>
            </a:gs>
            <a:gs pos="100000">
              <a:srgbClr val="070B14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9"/>
          <p:cNvGrpSpPr/>
          <p:nvPr/>
        </p:nvGrpSpPr>
        <p:grpSpPr>
          <a:xfrm>
            <a:off x="0" y="0"/>
            <a:ext cx="12201525" cy="6867525"/>
            <a:chOff x="0" y="0"/>
            <a:chExt cx="12201525" cy="6867525"/>
          </a:xfrm>
        </p:grpSpPr>
        <p:sp>
          <p:nvSpPr>
            <p:cNvPr id="2" name="Line 2"/>
            <p:cNvSpPr/>
            <p:nvPr/>
          </p:nvSpPr>
          <p:spPr>
            <a:xfrm>
              <a:off x="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76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28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381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533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685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762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838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990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1143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219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0" y="76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0" y="152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0" y="3810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0" y="533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0" y="685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670560" y="469106"/>
            <a:ext cx="3338419" cy="784384"/>
            <a:chOff x="670560" y="469106"/>
            <a:chExt cx="3338419" cy="784384"/>
          </a:xfrm>
        </p:grpSpPr>
        <p:sp>
          <p:nvSpPr>
            <p:cNvPr id="30" name="TextBox 30"/>
            <p:cNvSpPr txBox="1"/>
            <p:nvPr/>
          </p:nvSpPr>
          <p:spPr>
            <a:xfrm>
              <a:off x="680085" y="469106"/>
              <a:ext cx="33288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spc="225" dirty="0">
                  <a:solidFill>
                    <a:srgbClr val="F0B90B"/>
                  </a:solidFill>
                  <a:latin typeface="Consolas"/>
                  <a:ea typeface="Consolas"/>
                  <a:cs typeface="Consolas"/>
                </a:rPr>
                <a:t>THE DISTINCTION THAT MATTERS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0560" y="666750"/>
              <a:ext cx="236681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EAF0FB"/>
                  </a:solidFill>
                  <a:latin typeface="Arial"/>
                  <a:ea typeface="Microsoft YaHei"/>
                  <a:cs typeface="Arial"/>
                </a:rPr>
                <a:t>建议 vs 强制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85800" y="1181100"/>
              <a:ext cx="1143000" cy="38100"/>
            </a:xfrm>
            <a:prstGeom prst="rect">
              <a:avLst/>
            </a:prstGeom>
            <a:gradFill>
              <a:gsLst>
                <a:gs pos="0">
                  <a:srgbClr val="F0B90B"/>
                </a:gs>
                <a:gs pos="100000">
                  <a:srgbClr val="22D3EE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685800" y="1524000"/>
            <a:ext cx="5219700" cy="4191000"/>
            <a:chOff x="685800" y="1524000"/>
            <a:chExt cx="5219700" cy="4191000"/>
          </a:xfrm>
        </p:grpSpPr>
        <p:sp>
          <p:nvSpPr>
            <p:cNvPr id="34" name="Rectangle 34"/>
            <p:cNvSpPr/>
            <p:nvPr/>
          </p:nvSpPr>
          <p:spPr>
            <a:xfrm>
              <a:off x="685800" y="1524000"/>
              <a:ext cx="5219700" cy="4191000"/>
            </a:xfrm>
            <a:prstGeom prst="roundRect">
              <a:avLst>
                <a:gd name="adj" fmla="val 2273"/>
              </a:avLst>
            </a:prstGeom>
            <a:solidFill>
              <a:srgbClr val="0D1424"/>
            </a:solidFill>
            <a:ln w="9525">
              <a:solidFill>
                <a:srgbClr val="F0616D">
                  <a:alpha val="45000"/>
                </a:srgbClr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85800" y="1524000"/>
              <a:ext cx="5219700" cy="495300"/>
            </a:xfrm>
            <a:prstGeom prst="roundRect">
              <a:avLst>
                <a:gd name="adj" fmla="val 19231"/>
              </a:avLst>
            </a:prstGeom>
            <a:solidFill>
              <a:srgbClr val="F0616D">
                <a:alpha val="12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82599" y="1677829"/>
              <a:ext cx="424662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0616D"/>
                  </a:solidFill>
                  <a:latin typeface="Arial"/>
                  <a:ea typeface="Microsoft YaHei"/>
                  <a:cs typeface="Arial"/>
                </a:rPr>
                <a:t>✕ 建议模式 —— 大多数风控 Agent 止步于此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84123" y="2396014"/>
              <a:ext cx="13199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EAF0FB"/>
                  </a:solidFill>
                  <a:latin typeface="Consolas"/>
                  <a:ea typeface="Microsoft YaHei"/>
                  <a:cs typeface="Consolas"/>
                </a:rPr>
                <a:t>代理 ──▶ Aegis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84123" y="2700814"/>
              <a:ext cx="12783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A99B8"/>
                  </a:solidFill>
                  <a:latin typeface="Consolas"/>
                  <a:ea typeface="Microsoft YaHei"/>
                  <a:cs typeface="Consolas"/>
                </a:rPr>
                <a:t>└──▶ 币安 MCP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990600" y="3143250"/>
              <a:ext cx="4610100" cy="9525"/>
            </a:xfrm>
            <a:custGeom>
              <a:avLst/>
              <a:gdLst/>
              <a:ahLst/>
              <a:cxnLst/>
              <a:rect l="l" t="t" r="r" b="b"/>
              <a:pathLst>
                <a:path w="4610100" h="9525">
                  <a:moveTo>
                    <a:pt x="0" y="0"/>
                  </a:moveTo>
                  <a:lnTo>
                    <a:pt x="4610100" y="0"/>
                  </a:lnTo>
                </a:path>
              </a:pathLst>
            </a:custGeom>
            <a:noFill/>
            <a:ln w="9525">
              <a:solidFill>
                <a:srgbClr val="22304C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83742" y="3359468"/>
              <a:ext cx="3211258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代理同时持有币安写入工具和 Aegis 工具,</a:t>
              </a:r>
              <a:br/>
              <a:r>
                <a:rPr lang="zh-CN" sz="135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靠系统提示词要求「先问 Aegis」。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90600" y="4076700"/>
              <a:ext cx="4610100" cy="438150"/>
            </a:xfrm>
            <a:prstGeom prst="roundRect">
              <a:avLst>
                <a:gd name="adj" fmla="val 8696"/>
              </a:avLst>
            </a:prstGeom>
            <a:solidFill>
              <a:srgbClr val="F0616D">
                <a:alpha val="10000"/>
              </a:srgbClr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173480" y="4200525"/>
              <a:ext cx="19492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0616D"/>
                  </a:solidFill>
                  <a:latin typeface="Arial"/>
                  <a:ea typeface="Microsoft YaHei"/>
                  <a:cs typeface="Arial"/>
                </a:rPr>
                <a:t>这是建议,不是强制。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84123" y="4720114"/>
              <a:ext cx="3394202" cy="516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8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被提示注入或有 bug 的代理可以直接调用币安,</a:t>
              </a:r>
              <a:br/>
              <a:r>
                <a:rPr lang="zh-CN" sz="128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Aegis 永远看不到那笔订单。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286500" y="1524000"/>
            <a:ext cx="5219700" cy="4191000"/>
            <a:chOff x="6286500" y="1524000"/>
            <a:chExt cx="5219700" cy="4191000"/>
          </a:xfrm>
        </p:grpSpPr>
        <p:sp>
          <p:nvSpPr>
            <p:cNvPr id="45" name="Rectangle 45"/>
            <p:cNvSpPr/>
            <p:nvPr/>
          </p:nvSpPr>
          <p:spPr>
            <a:xfrm>
              <a:off x="6286500" y="1524000"/>
              <a:ext cx="5219700" cy="4191000"/>
            </a:xfrm>
            <a:prstGeom prst="roundRect">
              <a:avLst>
                <a:gd name="adj" fmla="val 2273"/>
              </a:avLst>
            </a:prstGeom>
            <a:solidFill>
              <a:srgbClr val="0D1424"/>
            </a:solidFill>
            <a:ln w="14288">
              <a:solidFill>
                <a:srgbClr val="34D399">
                  <a:alpha val="60000"/>
                </a:srgbClr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86500" y="1524000"/>
              <a:ext cx="5219700" cy="495300"/>
            </a:xfrm>
            <a:prstGeom prst="roundRect">
              <a:avLst>
                <a:gd name="adj" fmla="val 19231"/>
              </a:avLst>
            </a:prstGeom>
            <a:solidFill>
              <a:srgbClr val="34D399">
                <a:alpha val="12000"/>
              </a:srgbClr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83299" y="1677829"/>
              <a:ext cx="243037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34D399"/>
                  </a:solidFill>
                  <a:latin typeface="Arial"/>
                  <a:ea typeface="Microsoft YaHei"/>
                  <a:cs typeface="Arial"/>
                </a:rPr>
                <a:t>✓ 网关模式 —— Aegis v2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84823" y="2453164"/>
              <a:ext cx="21476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EAF0FB"/>
                  </a:solidFill>
                  <a:latin typeface="Consolas"/>
                  <a:ea typeface="Microsoft YaHei"/>
                  <a:cs typeface="Consolas"/>
                </a:rPr>
                <a:t>代理 ──▶ Aegis ──▶ 币安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6591300" y="3143250"/>
              <a:ext cx="4610100" cy="9525"/>
            </a:xfrm>
            <a:custGeom>
              <a:avLst/>
              <a:gdLst/>
              <a:ahLst/>
              <a:cxnLst/>
              <a:rect l="l" t="t" r="r" b="b"/>
              <a:pathLst>
                <a:path w="4610100" h="9525">
                  <a:moveTo>
                    <a:pt x="0" y="0"/>
                  </a:moveTo>
                  <a:lnTo>
                    <a:pt x="4610100" y="0"/>
                  </a:lnTo>
                </a:path>
              </a:pathLst>
            </a:custGeom>
            <a:noFill/>
            <a:ln w="9525">
              <a:solidFill>
                <a:srgbClr val="22304C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84442" y="335946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代理完全没有币安写入工具。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584442" y="3645218"/>
              <a:ext cx="32025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Aegis 持有凭证,只暴露一个执行工具。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591300" y="4076700"/>
              <a:ext cx="4610100" cy="438150"/>
            </a:xfrm>
            <a:prstGeom prst="roundRect">
              <a:avLst>
                <a:gd name="adj" fmla="val 8696"/>
              </a:avLst>
            </a:prstGeom>
            <a:solidFill>
              <a:srgbClr val="34D399">
                <a:alpha val="10000"/>
              </a:srgbClr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74180" y="42005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4D399"/>
                  </a:solidFill>
                  <a:latin typeface="Arial"/>
                  <a:ea typeface="Microsoft YaHei"/>
                  <a:cs typeface="Arial"/>
                </a:rPr>
                <a:t>保证成为部署本身的性质。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584823" y="4720114"/>
              <a:ext cx="28905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没有第二条路径 —— 因为从未给过它。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585585" y="5079206"/>
              <a:ext cx="1587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F0B90B"/>
                  </a:solidFill>
                  <a:latin typeface="Consolas"/>
                  <a:ea typeface="Consolas"/>
                  <a:cs typeface="Consolas"/>
                </a:rPr>
                <a:t>aegis mcp --gateway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80847" y="6305550"/>
            <a:ext cx="10830306" cy="333089"/>
            <a:chOff x="680847" y="6305550"/>
            <a:chExt cx="10830306" cy="333089"/>
          </a:xfrm>
        </p:grpSpPr>
        <p:sp>
          <p:nvSpPr>
            <p:cNvPr id="57" name="Line 57"/>
            <p:cNvSpPr/>
            <p:nvPr/>
          </p:nvSpPr>
          <p:spPr>
            <a:xfrm>
              <a:off x="685800" y="63055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22304C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80847" y="6447949"/>
              <a:ext cx="36342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8A99B8"/>
                  </a:solidFill>
                  <a:latin typeface="Consolas"/>
                  <a:ea typeface="Consolas"/>
                  <a:cs typeface="Consolas"/>
                </a:rPr>
                <a:t>AEGIS · Binance Agent OS Mini Hackathon · Track A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356127" y="644794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F0B90B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C1424"/>
            </a:gs>
            <a:gs pos="100000">
              <a:srgbClr val="070B14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9"/>
          <p:cNvGrpSpPr/>
          <p:nvPr/>
        </p:nvGrpSpPr>
        <p:grpSpPr>
          <a:xfrm>
            <a:off x="0" y="0"/>
            <a:ext cx="12201525" cy="6867525"/>
            <a:chOff x="0" y="0"/>
            <a:chExt cx="12201525" cy="6867525"/>
          </a:xfrm>
        </p:grpSpPr>
        <p:sp>
          <p:nvSpPr>
            <p:cNvPr id="2" name="Line 2"/>
            <p:cNvSpPr/>
            <p:nvPr/>
          </p:nvSpPr>
          <p:spPr>
            <a:xfrm>
              <a:off x="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76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28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381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533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685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762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838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990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1143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219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0" y="76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0" y="152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0" y="3810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0" y="533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0" y="685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670560" y="469106"/>
            <a:ext cx="3898449" cy="784384"/>
            <a:chOff x="670560" y="469106"/>
            <a:chExt cx="3898449" cy="784384"/>
          </a:xfrm>
        </p:grpSpPr>
        <p:sp>
          <p:nvSpPr>
            <p:cNvPr id="30" name="TextBox 30"/>
            <p:cNvSpPr txBox="1"/>
            <p:nvPr/>
          </p:nvSpPr>
          <p:spPr>
            <a:xfrm>
              <a:off x="680085" y="469106"/>
              <a:ext cx="14149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spc="225" dirty="0">
                  <a:solidFill>
                    <a:srgbClr val="F0B90B"/>
                  </a:solidFill>
                  <a:latin typeface="Consolas"/>
                  <a:ea typeface="Consolas"/>
                  <a:cs typeface="Consolas"/>
                </a:rPr>
                <a:t>ARCHITECTURE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0560" y="666750"/>
              <a:ext cx="389844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EAF0FB"/>
                  </a:solidFill>
                  <a:latin typeface="Arial"/>
                  <a:ea typeface="Microsoft YaHei"/>
                  <a:cs typeface="Arial"/>
                </a:rPr>
                <a:t>架构:唯一的写入路径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85800" y="1181100"/>
              <a:ext cx="1143000" cy="38100"/>
            </a:xfrm>
            <a:prstGeom prst="rect">
              <a:avLst/>
            </a:prstGeom>
            <a:gradFill>
              <a:gsLst>
                <a:gs pos="0">
                  <a:srgbClr val="F0B90B"/>
                </a:gs>
                <a:gs pos="100000">
                  <a:srgbClr val="22D3EE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914400" y="1943100"/>
            <a:ext cx="9886950" cy="1600200"/>
            <a:chOff x="914400" y="1943100"/>
            <a:chExt cx="9886950" cy="1600200"/>
          </a:xfrm>
        </p:grpSpPr>
        <p:sp>
          <p:nvSpPr>
            <p:cNvPr id="34" name="Rectangle 34"/>
            <p:cNvSpPr/>
            <p:nvPr/>
          </p:nvSpPr>
          <p:spPr>
            <a:xfrm>
              <a:off x="914400" y="2171700"/>
              <a:ext cx="2190750" cy="1143000"/>
            </a:xfrm>
            <a:prstGeom prst="roundRect">
              <a:avLst>
                <a:gd name="adj" fmla="val 8333"/>
              </a:avLst>
            </a:prstGeom>
            <a:solidFill>
              <a:srgbClr val="111A2E"/>
            </a:solidFill>
            <a:ln w="9525">
              <a:solidFill>
                <a:srgbClr val="22304C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293663" y="2453640"/>
              <a:ext cx="1432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EAF0FB"/>
                  </a:solidFill>
                  <a:latin typeface="Arial"/>
                  <a:ea typeface="Microsoft YaHei"/>
                  <a:cs typeface="Arial"/>
                </a:rPr>
                <a:t>你的 AI 代理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295324" y="2823210"/>
              <a:ext cx="14289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任意 LLM · 无凭证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476750" y="1943100"/>
              <a:ext cx="2762250" cy="1600200"/>
            </a:xfrm>
            <a:prstGeom prst="roundRect">
              <a:avLst>
                <a:gd name="adj" fmla="val 7143"/>
              </a:avLst>
            </a:prstGeom>
            <a:solidFill>
              <a:srgbClr val="F0B90B">
                <a:alpha val="10000"/>
              </a:srgbClr>
            </a:solidFill>
            <a:ln w="19050">
              <a:solidFill>
                <a:srgbClr val="F0B90B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455158" y="2173605"/>
              <a:ext cx="80543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0B90B"/>
                  </a:solidFill>
                  <a:latin typeface="Arial"/>
                  <a:ea typeface="Arial"/>
                  <a:cs typeface="Arial"/>
                </a:rPr>
                <a:t>AEGIS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254066" y="2575560"/>
              <a:ext cx="12076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EAF0FB"/>
                  </a:solidFill>
                  <a:latin typeface="Arial"/>
                  <a:ea typeface="Microsoft YaHei"/>
                  <a:cs typeface="Arial"/>
                </a:rPr>
                <a:t>23 条确定性规则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228768" y="2842260"/>
              <a:ext cx="12582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EAF0FB"/>
                  </a:solidFill>
                  <a:latin typeface="Arial"/>
                  <a:ea typeface="Microsoft YaHei"/>
                  <a:cs typeface="Arial"/>
                </a:rPr>
                <a:t>纯函数 · 无 LLM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499164" y="316325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A99B8"/>
                  </a:solidFill>
                  <a:latin typeface="Consolas"/>
                  <a:ea typeface="Microsoft YaHei"/>
                  <a:cs typeface="Consolas"/>
                </a:rPr>
                <a:t>判定即发送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610600" y="2171700"/>
              <a:ext cx="2190750" cy="1143000"/>
            </a:xfrm>
            <a:prstGeom prst="roundRect">
              <a:avLst>
                <a:gd name="adj" fmla="val 8333"/>
              </a:avLst>
            </a:prstGeom>
            <a:solidFill>
              <a:srgbClr val="111A2E"/>
            </a:solidFill>
            <a:ln w="9525">
              <a:solidFill>
                <a:srgbClr val="22D3EE">
                  <a:alpha val="50000"/>
                </a:srgbClr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842732" y="2453640"/>
              <a:ext cx="172648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2D3EE"/>
                  </a:solidFill>
                  <a:latin typeface="Arial"/>
                  <a:ea typeface="Microsoft YaHei"/>
                  <a:cs typeface="Arial"/>
                </a:rPr>
                <a:t>币安 Agent OS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020714" y="2823210"/>
              <a:ext cx="13705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8A99B8"/>
                  </a:solidFill>
                  <a:latin typeface="Arial"/>
                  <a:ea typeface="Arial"/>
                  <a:cs typeface="Arial"/>
                </a:rPr>
                <a:t>binance-cli · MCP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3143250" y="2743200"/>
              <a:ext cx="1257300" cy="1"/>
            </a:xfrm>
            <a:prstGeom prst="line">
              <a:avLst/>
            </a:prstGeom>
            <a:noFill/>
            <a:ln w="23812">
              <a:solidFill>
                <a:srgbClr val="F0B90B"/>
              </a:solidFill>
              <a:tailEnd type="arrow" w="lg" len="lg"/>
            </a:ln>
          </p:spPr>
        </p:sp>
        <p:sp>
          <p:nvSpPr>
            <p:cNvPr id="46" name="Line 46"/>
            <p:cNvSpPr/>
            <p:nvPr/>
          </p:nvSpPr>
          <p:spPr>
            <a:xfrm>
              <a:off x="7277100" y="2743200"/>
              <a:ext cx="1257300" cy="1"/>
            </a:xfrm>
            <a:prstGeom prst="line">
              <a:avLst/>
            </a:prstGeom>
            <a:noFill/>
            <a:ln w="23812">
              <a:solidFill>
                <a:srgbClr val="F0B90B"/>
              </a:solidFill>
              <a:tailEnd type="arrow" w="lg" len="lg"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3635019" y="250459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8A99B8"/>
                  </a:solidFill>
                  <a:latin typeface="Consolas"/>
                  <a:ea typeface="Microsoft YaHei"/>
                  <a:cs typeface="Consolas"/>
                </a:rPr>
                <a:t>提议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768869" y="250459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8A99B8"/>
                  </a:solidFill>
                  <a:latin typeface="Consolas"/>
                  <a:ea typeface="Microsoft YaHei"/>
                  <a:cs typeface="Consolas"/>
                </a:rPr>
                <a:t>放行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914400" y="4267200"/>
            <a:ext cx="10363200" cy="1447800"/>
            <a:chOff x="914400" y="4267200"/>
            <a:chExt cx="10363200" cy="1447800"/>
          </a:xfrm>
        </p:grpSpPr>
        <p:sp>
          <p:nvSpPr>
            <p:cNvPr id="50" name="Rectangle 50"/>
            <p:cNvSpPr/>
            <p:nvPr/>
          </p:nvSpPr>
          <p:spPr>
            <a:xfrm>
              <a:off x="914400" y="4267200"/>
              <a:ext cx="3352800" cy="1447800"/>
            </a:xfrm>
            <a:prstGeom prst="roundRect">
              <a:avLst>
                <a:gd name="adj" fmla="val 5263"/>
              </a:avLst>
            </a:prstGeom>
            <a:solidFill>
              <a:srgbClr val="0D1424"/>
            </a:solidFill>
            <a:ln w="9525">
              <a:solidFill>
                <a:srgbClr val="34D399">
                  <a:alpha val="45000"/>
                </a:srgbClr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211199" y="4497229"/>
              <a:ext cx="148017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34D399"/>
                  </a:solidFill>
                  <a:latin typeface="Arial"/>
                  <a:ea typeface="Microsoft YaHei"/>
                  <a:cs typeface="Arial"/>
                </a:rPr>
                <a:t>ALLOW · 放行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213104" y="4880610"/>
              <a:ext cx="1536192" cy="5204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20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Aegis 亲自下单</a:t>
              </a:r>
              <a:br/>
              <a:r>
                <a:rPr lang="zh-CN" sz="120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按真实成交结算计数器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213866" y="5468302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34D399"/>
                  </a:solidFill>
                  <a:latin typeface="Consolas"/>
                  <a:ea typeface="Consolas"/>
                  <a:cs typeface="Consolas"/>
                </a:rPr>
                <a:t>exit 0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4419600" y="4267200"/>
              <a:ext cx="3352800" cy="1447800"/>
            </a:xfrm>
            <a:prstGeom prst="roundRect">
              <a:avLst>
                <a:gd name="adj" fmla="val 5263"/>
              </a:avLst>
            </a:prstGeom>
            <a:solidFill>
              <a:srgbClr val="0D1424"/>
            </a:solidFill>
            <a:ln w="9525">
              <a:solidFill>
                <a:srgbClr val="F0B90B">
                  <a:alpha val="45000"/>
                </a:srgbClr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716399" y="4497229"/>
              <a:ext cx="217799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0B90B"/>
                  </a:solidFill>
                  <a:latin typeface="Arial"/>
                  <a:ea typeface="Microsoft YaHei"/>
                  <a:cs typeface="Arial"/>
                </a:rPr>
                <a:t>REVIEW · 待人工确认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718304" y="4880610"/>
              <a:ext cx="1231392" cy="5204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20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生成单次有效票据</a:t>
              </a:r>
              <a:br/>
              <a:r>
                <a:rPr lang="zh-CN" sz="120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兑付时重新评估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719066" y="5468302"/>
              <a:ext cx="15089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0B90B"/>
                  </a:solidFill>
                  <a:latin typeface="Consolas"/>
                  <a:ea typeface="Microsoft YaHei"/>
                  <a:cs typeface="Consolas"/>
                </a:rPr>
                <a:t>exit 3 · &amp;&amp; 在此停止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7924800" y="4267200"/>
              <a:ext cx="3352800" cy="1447800"/>
            </a:xfrm>
            <a:prstGeom prst="roundRect">
              <a:avLst>
                <a:gd name="adj" fmla="val 5263"/>
              </a:avLst>
            </a:prstGeom>
            <a:solidFill>
              <a:srgbClr val="0D1424"/>
            </a:solidFill>
            <a:ln w="9525">
              <a:solidFill>
                <a:srgbClr val="F0616D">
                  <a:alpha val="45000"/>
                </a:srgbClr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221599" y="4497229"/>
              <a:ext cx="125600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0616D"/>
                  </a:solidFill>
                  <a:latin typeface="Arial"/>
                  <a:ea typeface="Microsoft YaHei"/>
                  <a:cs typeface="Arial"/>
                </a:rPr>
                <a:t>DENY · 拒绝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223504" y="4880610"/>
              <a:ext cx="1231392" cy="5204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20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什么都不会发出</a:t>
              </a:r>
              <a:br/>
              <a:r>
                <a:rPr lang="zh-CN" sz="120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原样转述拒绝理由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224266" y="5468302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F0616D"/>
                  </a:solidFill>
                  <a:latin typeface="Consolas"/>
                  <a:ea typeface="Consolas"/>
                  <a:cs typeface="Consolas"/>
                </a:rPr>
                <a:t>exit 1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80847" y="6305550"/>
            <a:ext cx="10830306" cy="333089"/>
            <a:chOff x="680847" y="6305550"/>
            <a:chExt cx="10830306" cy="333089"/>
          </a:xfrm>
        </p:grpSpPr>
        <p:sp>
          <p:nvSpPr>
            <p:cNvPr id="63" name="Line 63"/>
            <p:cNvSpPr/>
            <p:nvPr/>
          </p:nvSpPr>
          <p:spPr>
            <a:xfrm>
              <a:off x="685800" y="63055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22304C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80847" y="6447949"/>
              <a:ext cx="36342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8A99B8"/>
                  </a:solidFill>
                  <a:latin typeface="Consolas"/>
                  <a:ea typeface="Consolas"/>
                  <a:cs typeface="Consolas"/>
                </a:rPr>
                <a:t>AEGIS · Binance Agent OS Mini Hackathon · Track A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356127" y="644794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F0B90B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C1424"/>
            </a:gs>
            <a:gs pos="100000">
              <a:srgbClr val="070B14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9"/>
          <p:cNvGrpSpPr/>
          <p:nvPr/>
        </p:nvGrpSpPr>
        <p:grpSpPr>
          <a:xfrm>
            <a:off x="0" y="0"/>
            <a:ext cx="12201525" cy="6867525"/>
            <a:chOff x="0" y="0"/>
            <a:chExt cx="12201525" cy="6867525"/>
          </a:xfrm>
        </p:grpSpPr>
        <p:sp>
          <p:nvSpPr>
            <p:cNvPr id="2" name="Line 2"/>
            <p:cNvSpPr/>
            <p:nvPr/>
          </p:nvSpPr>
          <p:spPr>
            <a:xfrm>
              <a:off x="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76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28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381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533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685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762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838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990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1143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219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0" y="76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0" y="152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0" y="3810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0" y="533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0" y="685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670560" y="469106"/>
            <a:ext cx="4472940" cy="784384"/>
            <a:chOff x="670560" y="469106"/>
            <a:chExt cx="4472940" cy="784384"/>
          </a:xfrm>
        </p:grpSpPr>
        <p:sp>
          <p:nvSpPr>
            <p:cNvPr id="30" name="TextBox 30"/>
            <p:cNvSpPr txBox="1"/>
            <p:nvPr/>
          </p:nvSpPr>
          <p:spPr>
            <a:xfrm>
              <a:off x="680085" y="469106"/>
              <a:ext cx="11756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spc="225" dirty="0">
                  <a:solidFill>
                    <a:srgbClr val="F0B90B"/>
                  </a:solidFill>
                  <a:latin typeface="Consolas"/>
                  <a:ea typeface="Consolas"/>
                  <a:cs typeface="Consolas"/>
                </a:rPr>
                <a:t>INVARIANTS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0560" y="666750"/>
              <a:ext cx="44729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EAF0FB"/>
                  </a:solidFill>
                  <a:latin typeface="Arial"/>
                  <a:ea typeface="Microsoft YaHei"/>
                  <a:cs typeface="Arial"/>
                </a:rPr>
                <a:t>三条被代码强制的不变量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85800" y="1181100"/>
              <a:ext cx="1143000" cy="38100"/>
            </a:xfrm>
            <a:prstGeom prst="rect">
              <a:avLst/>
            </a:prstGeom>
            <a:gradFill>
              <a:gsLst>
                <a:gs pos="0">
                  <a:srgbClr val="F0B90B"/>
                </a:gs>
                <a:gs pos="100000">
                  <a:srgbClr val="22D3EE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685800" y="1600200"/>
            <a:ext cx="3505200" cy="4114800"/>
            <a:chOff x="685800" y="1600200"/>
            <a:chExt cx="3505200" cy="4114800"/>
          </a:xfrm>
        </p:grpSpPr>
        <p:sp>
          <p:nvSpPr>
            <p:cNvPr id="34" name="Rectangle 34"/>
            <p:cNvSpPr/>
            <p:nvPr/>
          </p:nvSpPr>
          <p:spPr>
            <a:xfrm>
              <a:off x="685800" y="1600200"/>
              <a:ext cx="3505200" cy="4114800"/>
            </a:xfrm>
            <a:prstGeom prst="roundRect">
              <a:avLst>
                <a:gd name="adj" fmla="val 2717"/>
              </a:avLst>
            </a:prstGeom>
            <a:solidFill>
              <a:srgbClr val="0D1424"/>
            </a:solidFill>
            <a:ln w="9525">
              <a:solidFill>
                <a:srgbClr val="22304C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85800" y="1600200"/>
              <a:ext cx="3505200" cy="47625"/>
            </a:xfrm>
            <a:prstGeom prst="rect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324339" y="1817370"/>
              <a:ext cx="437921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5400" b="1" dirty="0">
                  <a:solidFill>
                    <a:srgbClr val="34D399">
                      <a:alphaMod val="16000"/>
                    </a:srgbClr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895350" y="1943100"/>
              <a:ext cx="342900" cy="342900"/>
            </a:xfrm>
            <a:prstGeom prst="ellipse">
              <a:avLst/>
            </a:prstGeom>
            <a:solidFill>
              <a:srgbClr val="34D399">
                <a:alpha val="16000"/>
              </a:srgbClr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09964" y="203549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34D399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81837" y="2652236"/>
              <a:ext cx="14068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EAF0FB"/>
                  </a:solidFill>
                  <a:latin typeface="Arial"/>
                  <a:ea typeface="Microsoft YaHei"/>
                  <a:cs typeface="Arial"/>
                </a:rPr>
                <a:t>平仓永不被拦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990600" y="3028950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9525">
              <a:solidFill>
                <a:srgbClr val="22304C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84504" y="3261360"/>
              <a:ext cx="2557272" cy="8061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20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每一个熔断器 —— 总闸、日亏、回撤、</a:t>
              </a:r>
              <a:br/>
              <a:r>
                <a:rPr lang="zh-CN" sz="120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冷静期、限速、单笔上限、复核阈值</a:t>
              </a:r>
              <a:br/>
              <a:r>
                <a:rPr lang="zh-CN" sz="120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—— 都会为经过验证的降险操作让路。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84504" y="4404360"/>
              <a:ext cx="2382012" cy="5204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20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一个会把你困在仓位里的风控系统,</a:t>
              </a:r>
              <a:br/>
              <a:r>
                <a:rPr lang="zh-CN" sz="120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本身就是风险。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4343400" y="1600200"/>
            <a:ext cx="3505200" cy="4114800"/>
            <a:chOff x="4343400" y="1600200"/>
            <a:chExt cx="3505200" cy="4114800"/>
          </a:xfrm>
        </p:grpSpPr>
        <p:sp>
          <p:nvSpPr>
            <p:cNvPr id="44" name="Rectangle 44"/>
            <p:cNvSpPr/>
            <p:nvPr/>
          </p:nvSpPr>
          <p:spPr>
            <a:xfrm>
              <a:off x="4343400" y="1600200"/>
              <a:ext cx="3505200" cy="4114800"/>
            </a:xfrm>
            <a:prstGeom prst="roundRect">
              <a:avLst>
                <a:gd name="adj" fmla="val 2717"/>
              </a:avLst>
            </a:prstGeom>
            <a:solidFill>
              <a:srgbClr val="0D1424"/>
            </a:solidFill>
            <a:ln w="9525">
              <a:solidFill>
                <a:srgbClr val="22304C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4343400" y="1600200"/>
              <a:ext cx="3505200" cy="47625"/>
            </a:xfrm>
            <a:prstGeom prst="rect">
              <a:avLst/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981939" y="1817370"/>
              <a:ext cx="437921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5400" b="1" dirty="0">
                  <a:solidFill>
                    <a:srgbClr val="22D3EE">
                      <a:alphaMod val="16000"/>
                    </a:srgbClr>
                  </a:solidFill>
                  <a:latin typeface="Consolas"/>
                  <a:ea typeface="Consolas"/>
                  <a:cs typeface="Consolas"/>
                </a:rPr>
                <a:t>2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4552950" y="1943100"/>
              <a:ext cx="342900" cy="342900"/>
            </a:xfrm>
            <a:prstGeom prst="ellipse">
              <a:avLst/>
            </a:prstGeom>
            <a:solidFill>
              <a:srgbClr val="22D3EE">
                <a:alpha val="16000"/>
              </a:srgbClr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667564" y="203549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2D3EE"/>
                  </a:solidFill>
                  <a:latin typeface="Consolas"/>
                  <a:ea typeface="Consolas"/>
                  <a:cs typeface="Consolas"/>
                </a:rPr>
                <a:t>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639437" y="2652236"/>
              <a:ext cx="223516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EAF0FB"/>
                  </a:solidFill>
                  <a:latin typeface="Arial"/>
                  <a:ea typeface="Microsoft YaHei"/>
                  <a:cs typeface="Arial"/>
                </a:rPr>
                <a:t>声明是证据,不是证明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4648200" y="3028950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9525">
              <a:solidFill>
                <a:srgbClr val="22304C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642104" y="3261360"/>
              <a:ext cx="2191512" cy="8061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20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reduceOnly 会与真实仓位核对:</a:t>
              </a:r>
              <a:br/>
              <a:r>
                <a:rPr lang="zh-CN" sz="120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方向必须相反、规模不得超出、</a:t>
              </a:r>
              <a:br/>
              <a:r>
                <a:rPr lang="zh-CN" sz="120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快照必须足够新鲜。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642104" y="4404360"/>
              <a:ext cx="1467612" cy="5204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20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无法验证时拒绝豁免,</a:t>
              </a:r>
              <a:br/>
              <a:r>
                <a:rPr lang="zh-CN" sz="120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而不是猜测。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8001000" y="1600200"/>
            <a:ext cx="3505200" cy="4114800"/>
            <a:chOff x="8001000" y="1600200"/>
            <a:chExt cx="3505200" cy="4114800"/>
          </a:xfrm>
        </p:grpSpPr>
        <p:sp>
          <p:nvSpPr>
            <p:cNvPr id="54" name="Rectangle 54"/>
            <p:cNvSpPr/>
            <p:nvPr/>
          </p:nvSpPr>
          <p:spPr>
            <a:xfrm>
              <a:off x="8001000" y="1600200"/>
              <a:ext cx="3505200" cy="4114800"/>
            </a:xfrm>
            <a:prstGeom prst="roundRect">
              <a:avLst>
                <a:gd name="adj" fmla="val 2717"/>
              </a:avLst>
            </a:prstGeom>
            <a:solidFill>
              <a:srgbClr val="0D1424"/>
            </a:solidFill>
            <a:ln w="9525">
              <a:solidFill>
                <a:srgbClr val="22304C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8001000" y="1600200"/>
              <a:ext cx="3505200" cy="47625"/>
            </a:xfrm>
            <a:prstGeom prst="rect">
              <a:avLst/>
            </a:prstGeom>
            <a:solidFill>
              <a:srgbClr val="F0B90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0639539" y="1817370"/>
              <a:ext cx="437921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5400" b="1" dirty="0">
                  <a:solidFill>
                    <a:srgbClr val="F0B90B">
                      <a:alphaMod val="16000"/>
                    </a:srgbClr>
                  </a:solidFill>
                  <a:latin typeface="Consolas"/>
                  <a:ea typeface="Consolas"/>
                  <a:cs typeface="Consolas"/>
                </a:rPr>
                <a:t>3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8210550" y="1943100"/>
              <a:ext cx="342900" cy="342900"/>
            </a:xfrm>
            <a:prstGeom prst="ellipse">
              <a:avLst/>
            </a:prstGeom>
            <a:solidFill>
              <a:srgbClr val="F0B90B">
                <a:alpha val="16000"/>
              </a:srgbClr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325164" y="203549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0B90B"/>
                  </a:solidFill>
                  <a:latin typeface="Consolas"/>
                  <a:ea typeface="Consolas"/>
                  <a:cs typeface="Consolas"/>
                </a:rPr>
                <a:t>3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297037" y="2652236"/>
              <a:ext cx="178133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EAF0FB"/>
                  </a:solidFill>
                  <a:latin typeface="Arial"/>
                  <a:ea typeface="Microsoft YaHei"/>
                  <a:cs typeface="Arial"/>
                </a:rPr>
                <a:t>永远 fail closed</a:t>
              </a:r>
            </a:p>
          </p:txBody>
        </p:sp>
        <p:sp>
          <p:nvSpPr>
            <p:cNvPr id="60" name="Line 60"/>
            <p:cNvSpPr/>
            <p:nvPr/>
          </p:nvSpPr>
          <p:spPr>
            <a:xfrm>
              <a:off x="8305800" y="3028950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9525">
              <a:solidFill>
                <a:srgbClr val="22304C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299704" y="3261360"/>
              <a:ext cx="2450592" cy="8061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20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畸形动作、坏策略文件、未知字段、</a:t>
              </a:r>
              <a:br/>
              <a:r>
                <a:rPr lang="zh-CN" sz="120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未支持 venue、未成交订单、</a:t>
              </a:r>
              <a:br/>
              <a:r>
                <a:rPr lang="zh-CN" sz="120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规则自身抛异常 —— 一律 deny。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299704" y="4404360"/>
              <a:ext cx="17487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绝不会意外产生 allow。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680847" y="6305550"/>
            <a:ext cx="10830306" cy="333089"/>
            <a:chOff x="680847" y="6305550"/>
            <a:chExt cx="10830306" cy="333089"/>
          </a:xfrm>
        </p:grpSpPr>
        <p:sp>
          <p:nvSpPr>
            <p:cNvPr id="64" name="Line 64"/>
            <p:cNvSpPr/>
            <p:nvPr/>
          </p:nvSpPr>
          <p:spPr>
            <a:xfrm>
              <a:off x="685800" y="63055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22304C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80847" y="6447949"/>
              <a:ext cx="36342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8A99B8"/>
                  </a:solidFill>
                  <a:latin typeface="Consolas"/>
                  <a:ea typeface="Consolas"/>
                  <a:cs typeface="Consolas"/>
                </a:rPr>
                <a:t>AEGIS · Binance Agent OS Mini Hackathon · Track A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356127" y="644794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F0B90B"/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C1424"/>
            </a:gs>
            <a:gs pos="100000">
              <a:srgbClr val="070B14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9"/>
          <p:cNvGrpSpPr/>
          <p:nvPr/>
        </p:nvGrpSpPr>
        <p:grpSpPr>
          <a:xfrm>
            <a:off x="0" y="0"/>
            <a:ext cx="12201525" cy="6867525"/>
            <a:chOff x="0" y="0"/>
            <a:chExt cx="12201525" cy="6867525"/>
          </a:xfrm>
        </p:grpSpPr>
        <p:sp>
          <p:nvSpPr>
            <p:cNvPr id="2" name="Line 2"/>
            <p:cNvSpPr/>
            <p:nvPr/>
          </p:nvSpPr>
          <p:spPr>
            <a:xfrm>
              <a:off x="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76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28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381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533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685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762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838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990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1143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219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0" y="76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0" y="152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0" y="3810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0" y="533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0" y="685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670560" y="469106"/>
            <a:ext cx="3047314" cy="784384"/>
            <a:chOff x="670560" y="469106"/>
            <a:chExt cx="3047314" cy="784384"/>
          </a:xfrm>
        </p:grpSpPr>
        <p:sp>
          <p:nvSpPr>
            <p:cNvPr id="30" name="TextBox 30"/>
            <p:cNvSpPr txBox="1"/>
            <p:nvPr/>
          </p:nvSpPr>
          <p:spPr>
            <a:xfrm>
              <a:off x="680085" y="469106"/>
              <a:ext cx="14149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spc="225" dirty="0">
                  <a:solidFill>
                    <a:srgbClr val="F0B90B"/>
                  </a:solidFill>
                  <a:latin typeface="Consolas"/>
                  <a:ea typeface="Consolas"/>
                  <a:cs typeface="Consolas"/>
                </a:rPr>
                <a:t>THE RULE SET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0560" y="666750"/>
              <a:ext cx="304731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EAF0FB"/>
                  </a:solidFill>
                  <a:latin typeface="Arial"/>
                  <a:ea typeface="Microsoft YaHei"/>
                  <a:cs typeface="Arial"/>
                </a:rPr>
                <a:t>23 条确定性规则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85800" y="1181100"/>
              <a:ext cx="1143000" cy="38100"/>
            </a:xfrm>
            <a:prstGeom prst="rect">
              <a:avLst/>
            </a:prstGeom>
            <a:gradFill>
              <a:gsLst>
                <a:gs pos="0">
                  <a:srgbClr val="F0B90B"/>
                </a:gs>
                <a:gs pos="100000">
                  <a:srgbClr val="22D3EE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685800" y="1676400"/>
            <a:ext cx="10820400" cy="628650"/>
            <a:chOff x="685800" y="1676400"/>
            <a:chExt cx="10820400" cy="628650"/>
          </a:xfrm>
        </p:grpSpPr>
        <p:sp>
          <p:nvSpPr>
            <p:cNvPr id="34" name="Rectangle 34"/>
            <p:cNvSpPr/>
            <p:nvPr/>
          </p:nvSpPr>
          <p:spPr>
            <a:xfrm>
              <a:off x="685800" y="1676400"/>
              <a:ext cx="10820400" cy="628650"/>
            </a:xfrm>
            <a:prstGeom prst="roundRect">
              <a:avLst>
                <a:gd name="adj" fmla="val 9091"/>
              </a:avLst>
            </a:prstGeom>
            <a:solidFill>
              <a:srgbClr val="0D1424"/>
            </a:solidFill>
            <a:ln w="9525">
              <a:solidFill>
                <a:srgbClr val="22304C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85800" y="1676400"/>
              <a:ext cx="47625" cy="628650"/>
            </a:xfrm>
            <a:prstGeom prst="rect">
              <a:avLst/>
            </a:prstGeom>
            <a:solidFill>
              <a:srgbClr val="F0B90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58799" y="190642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EAF0FB"/>
                  </a:solidFill>
                  <a:latin typeface="Arial"/>
                  <a:ea typeface="Microsoft YaHei"/>
                  <a:cs typeface="Arial"/>
                </a:rPr>
                <a:t>访问控制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003423" y="1938814"/>
              <a:ext cx="32352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kill-switch · 白名单 / 黑名单 · 默认姿态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10858500" y="1800225"/>
              <a:ext cx="381000" cy="381000"/>
            </a:xfrm>
            <a:prstGeom prst="ellipse">
              <a:avLst/>
            </a:prstGeom>
            <a:solidFill>
              <a:srgbClr val="F0B90B">
                <a:alpha val="14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989192" y="1903571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F0B90B"/>
                  </a:solidFill>
                  <a:latin typeface="Consolas"/>
                  <a:ea typeface="Consolas"/>
                  <a:cs typeface="Consolas"/>
                </a:rPr>
                <a:t>5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85800" y="2400300"/>
            <a:ext cx="10820400" cy="628650"/>
            <a:chOff x="685800" y="2400300"/>
            <a:chExt cx="10820400" cy="628650"/>
          </a:xfrm>
        </p:grpSpPr>
        <p:sp>
          <p:nvSpPr>
            <p:cNvPr id="41" name="Rectangle 41"/>
            <p:cNvSpPr/>
            <p:nvPr/>
          </p:nvSpPr>
          <p:spPr>
            <a:xfrm>
              <a:off x="685800" y="2400300"/>
              <a:ext cx="10820400" cy="628650"/>
            </a:xfrm>
            <a:prstGeom prst="roundRect">
              <a:avLst>
                <a:gd name="adj" fmla="val 9091"/>
              </a:avLst>
            </a:prstGeom>
            <a:solidFill>
              <a:srgbClr val="0D1424"/>
            </a:solidFill>
            <a:ln w="9525">
              <a:solidFill>
                <a:srgbClr val="22304C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85800" y="2400300"/>
              <a:ext cx="47625" cy="628650"/>
            </a:xfrm>
            <a:prstGeom prst="rect">
              <a:avLst/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58799" y="263032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EAF0FB"/>
                  </a:solidFill>
                  <a:latin typeface="Arial"/>
                  <a:ea typeface="Microsoft YaHei"/>
                  <a:cs typeface="Arial"/>
                </a:rPr>
                <a:t>规模敞口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003423" y="2662714"/>
              <a:ext cx="39330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单笔 · 日额度 · 总敞口 · 持仓数 · 杠杆 · 权益下限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10858500" y="2524125"/>
              <a:ext cx="381000" cy="381000"/>
            </a:xfrm>
            <a:prstGeom prst="ellipse">
              <a:avLst/>
            </a:prstGeom>
            <a:solidFill>
              <a:srgbClr val="22D3EE">
                <a:alpha val="14000"/>
              </a:srgbClr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989192" y="2627471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22D3EE"/>
                  </a:solidFill>
                  <a:latin typeface="Consolas"/>
                  <a:ea typeface="Consolas"/>
                  <a:cs typeface="Consolas"/>
                </a:rPr>
                <a:t>6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85800" y="3124200"/>
            <a:ext cx="10820400" cy="628650"/>
            <a:chOff x="685800" y="3124200"/>
            <a:chExt cx="10820400" cy="628650"/>
          </a:xfrm>
        </p:grpSpPr>
        <p:sp>
          <p:nvSpPr>
            <p:cNvPr id="48" name="Rectangle 48"/>
            <p:cNvSpPr/>
            <p:nvPr/>
          </p:nvSpPr>
          <p:spPr>
            <a:xfrm>
              <a:off x="685800" y="3124200"/>
              <a:ext cx="10820400" cy="628650"/>
            </a:xfrm>
            <a:prstGeom prst="roundRect">
              <a:avLst>
                <a:gd name="adj" fmla="val 9091"/>
              </a:avLst>
            </a:prstGeom>
            <a:solidFill>
              <a:srgbClr val="0D1424"/>
            </a:solidFill>
            <a:ln w="9525">
              <a:solidFill>
                <a:srgbClr val="22304C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85800" y="3124200"/>
              <a:ext cx="47625" cy="628650"/>
            </a:xfrm>
            <a:prstGeom prst="rect">
              <a:avLst/>
            </a:prstGeom>
            <a:solidFill>
              <a:srgbClr val="F0B90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8799" y="335422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EAF0FB"/>
                  </a:solidFill>
                  <a:latin typeface="Arial"/>
                  <a:ea typeface="Microsoft YaHei"/>
                  <a:cs typeface="Arial"/>
                </a:rPr>
                <a:t>亏损熔断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003423" y="3386614"/>
              <a:ext cx="26493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日亏上限 · 峰谷回撤 · 亏损冷静期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10858500" y="3248025"/>
              <a:ext cx="381000" cy="381000"/>
            </a:xfrm>
            <a:prstGeom prst="ellipse">
              <a:avLst/>
            </a:prstGeom>
            <a:solidFill>
              <a:srgbClr val="F0B90B">
                <a:alpha val="14000"/>
              </a:srgbClr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989192" y="3351371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F0B90B"/>
                  </a:solidFill>
                  <a:latin typeface="Consolas"/>
                  <a:ea typeface="Consolas"/>
                  <a:cs typeface="Consolas"/>
                </a:rPr>
                <a:t>3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85800" y="3848100"/>
            <a:ext cx="10820400" cy="628650"/>
            <a:chOff x="685800" y="3848100"/>
            <a:chExt cx="10820400" cy="628650"/>
          </a:xfrm>
        </p:grpSpPr>
        <p:sp>
          <p:nvSpPr>
            <p:cNvPr id="55" name="Rectangle 55"/>
            <p:cNvSpPr/>
            <p:nvPr/>
          </p:nvSpPr>
          <p:spPr>
            <a:xfrm>
              <a:off x="685800" y="3848100"/>
              <a:ext cx="10820400" cy="628650"/>
            </a:xfrm>
            <a:prstGeom prst="roundRect">
              <a:avLst>
                <a:gd name="adj" fmla="val 9091"/>
              </a:avLst>
            </a:prstGeom>
            <a:solidFill>
              <a:srgbClr val="0D1424"/>
            </a:solidFill>
            <a:ln w="9525">
              <a:solidFill>
                <a:srgbClr val="22304C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85800" y="3848100"/>
              <a:ext cx="47625" cy="628650"/>
            </a:xfrm>
            <a:prstGeom prst="rect">
              <a:avLst/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58799" y="407812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EAF0FB"/>
                  </a:solidFill>
                  <a:latin typeface="Arial"/>
                  <a:ea typeface="Microsoft YaHei"/>
                  <a:cs typeface="Arial"/>
                </a:rPr>
                <a:t>节奏控制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003423" y="4110514"/>
              <a:ext cx="21324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每分钟 · 每小时 · 交易时段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10858500" y="3971925"/>
              <a:ext cx="381000" cy="381000"/>
            </a:xfrm>
            <a:prstGeom prst="ellipse">
              <a:avLst/>
            </a:prstGeom>
            <a:solidFill>
              <a:srgbClr val="22D3EE">
                <a:alpha val="14000"/>
              </a:srgbClr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0989192" y="4075271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22D3EE"/>
                  </a:solidFill>
                  <a:latin typeface="Consolas"/>
                  <a:ea typeface="Consolas"/>
                  <a:cs typeface="Consolas"/>
                </a:rPr>
                <a:t>3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685800" y="4572000"/>
            <a:ext cx="10820400" cy="628650"/>
            <a:chOff x="685800" y="4572000"/>
            <a:chExt cx="10820400" cy="628650"/>
          </a:xfrm>
        </p:grpSpPr>
        <p:sp>
          <p:nvSpPr>
            <p:cNvPr id="62" name="Rectangle 62"/>
            <p:cNvSpPr/>
            <p:nvPr/>
          </p:nvSpPr>
          <p:spPr>
            <a:xfrm>
              <a:off x="685800" y="4572000"/>
              <a:ext cx="10820400" cy="628650"/>
            </a:xfrm>
            <a:prstGeom prst="roundRect">
              <a:avLst>
                <a:gd name="adj" fmla="val 9091"/>
              </a:avLst>
            </a:prstGeom>
            <a:solidFill>
              <a:srgbClr val="0D1424"/>
            </a:solidFill>
            <a:ln w="9525">
              <a:solidFill>
                <a:srgbClr val="22304C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685800" y="4572000"/>
              <a:ext cx="47625" cy="628650"/>
            </a:xfrm>
            <a:prstGeom prst="rect">
              <a:avLst/>
            </a:prstGeom>
            <a:solidFill>
              <a:srgbClr val="F0B90B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058799" y="4802029"/>
              <a:ext cx="10795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EAF0FB"/>
                  </a:solidFill>
                  <a:latin typeface="Arial"/>
                  <a:ea typeface="Microsoft YaHei"/>
                  <a:cs typeface="Arial"/>
                </a:rPr>
                <a:t>订单完整性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3003423" y="4834414"/>
              <a:ext cx="49669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乌龙指 · 强制止损 · 止损价校验 · 重放 · 未验证平仓 · 陈旧快照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10858500" y="4695825"/>
              <a:ext cx="381000" cy="381000"/>
            </a:xfrm>
            <a:prstGeom prst="ellipse">
              <a:avLst/>
            </a:prstGeom>
            <a:solidFill>
              <a:srgbClr val="F0B90B">
                <a:alpha val="14000"/>
              </a:srgbClr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0989192" y="4799171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F0B90B"/>
                  </a:solidFill>
                  <a:latin typeface="Consolas"/>
                  <a:ea typeface="Consolas"/>
                  <a:cs typeface="Consolas"/>
                </a:rPr>
                <a:t>6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685800" y="5295900"/>
            <a:ext cx="10820400" cy="628650"/>
            <a:chOff x="685800" y="5295900"/>
            <a:chExt cx="10820400" cy="628650"/>
          </a:xfrm>
        </p:grpSpPr>
        <p:sp>
          <p:nvSpPr>
            <p:cNvPr id="69" name="Rectangle 69"/>
            <p:cNvSpPr/>
            <p:nvPr/>
          </p:nvSpPr>
          <p:spPr>
            <a:xfrm>
              <a:off x="685800" y="5295900"/>
              <a:ext cx="10820400" cy="628650"/>
            </a:xfrm>
            <a:prstGeom prst="roundRect">
              <a:avLst>
                <a:gd name="adj" fmla="val 9091"/>
              </a:avLst>
            </a:prstGeom>
            <a:solidFill>
              <a:srgbClr val="0D1424"/>
            </a:solidFill>
            <a:ln w="9525">
              <a:solidFill>
                <a:srgbClr val="22304C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685800" y="5295900"/>
              <a:ext cx="47625" cy="628650"/>
            </a:xfrm>
            <a:prstGeom prst="rect">
              <a:avLst/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058799" y="552592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EAF0FB"/>
                  </a:solidFill>
                  <a:latin typeface="Arial"/>
                  <a:ea typeface="Microsoft YaHei"/>
                  <a:cs typeface="Arial"/>
                </a:rPr>
                <a:t>人机协同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3003423" y="5558314"/>
              <a:ext cx="21065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超额自主线 → 交由人类确认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10858500" y="5419725"/>
              <a:ext cx="381000" cy="381000"/>
            </a:xfrm>
            <a:prstGeom prst="ellipse">
              <a:avLst/>
            </a:prstGeom>
            <a:solidFill>
              <a:srgbClr val="22D3EE">
                <a:alpha val="14000"/>
              </a:srgbClr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0989192" y="5523071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22D3EE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685800" y="6057900"/>
            <a:ext cx="10820400" cy="419100"/>
            <a:chOff x="685800" y="6057900"/>
            <a:chExt cx="10820400" cy="419100"/>
          </a:xfrm>
        </p:grpSpPr>
        <p:sp>
          <p:nvSpPr>
            <p:cNvPr id="76" name="Rectangle 76"/>
            <p:cNvSpPr/>
            <p:nvPr/>
          </p:nvSpPr>
          <p:spPr>
            <a:xfrm>
              <a:off x="685800" y="6057900"/>
              <a:ext cx="10820400" cy="419100"/>
            </a:xfrm>
            <a:prstGeom prst="roundRect">
              <a:avLst>
                <a:gd name="adj" fmla="val 13636"/>
              </a:avLst>
            </a:prstGeom>
            <a:solidFill>
              <a:srgbClr val="F0B90B">
                <a:alpha val="7000"/>
              </a:srgbClr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1060323" y="6186964"/>
              <a:ext cx="70316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EAF0FB"/>
                  </a:solidFill>
                  <a:latin typeface="Arial"/>
                  <a:ea typeface="Microsoft YaHei"/>
                  <a:cs typeface="Arial"/>
                </a:rPr>
                <a:t>策略即代码 —— 一个可读的 YAML 文件就是全部安全姿态。</a:t>
              </a:r>
              <a:r>
                <a:rPr lang="zh-CN" sz="1280" b="1" dirty="0">
                  <a:solidFill>
                    <a:srgbClr val="F0B90B"/>
                  </a:solidFill>
                  <a:latin typeface="Arial"/>
                  <a:ea typeface="Microsoft YaHei"/>
                  <a:cs typeface="Arial"/>
                </a:rPr>
                <a:t>未知字段是硬错误,不是警告。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680847" y="6305550"/>
            <a:ext cx="10830306" cy="333089"/>
            <a:chOff x="680847" y="6305550"/>
            <a:chExt cx="10830306" cy="333089"/>
          </a:xfrm>
        </p:grpSpPr>
        <p:sp>
          <p:nvSpPr>
            <p:cNvPr id="79" name="Line 79"/>
            <p:cNvSpPr/>
            <p:nvPr/>
          </p:nvSpPr>
          <p:spPr>
            <a:xfrm>
              <a:off x="685800" y="63055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22304C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80847" y="6447949"/>
              <a:ext cx="36342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8A99B8"/>
                  </a:solidFill>
                  <a:latin typeface="Consolas"/>
                  <a:ea typeface="Consolas"/>
                  <a:cs typeface="Consolas"/>
                </a:rPr>
                <a:t>AEGIS · Binance Agent OS Mini Hackathon · Track A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356127" y="644794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F0B90B"/>
                  </a:solidFill>
                  <a:latin typeface="Consolas"/>
                  <a:ea typeface="Consolas"/>
                  <a:cs typeface="Consolas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C1424"/>
            </a:gs>
            <a:gs pos="100000">
              <a:srgbClr val="070B14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9"/>
          <p:cNvGrpSpPr/>
          <p:nvPr/>
        </p:nvGrpSpPr>
        <p:grpSpPr>
          <a:xfrm>
            <a:off x="0" y="0"/>
            <a:ext cx="12201525" cy="6867525"/>
            <a:chOff x="0" y="0"/>
            <a:chExt cx="12201525" cy="6867525"/>
          </a:xfrm>
        </p:grpSpPr>
        <p:sp>
          <p:nvSpPr>
            <p:cNvPr id="2" name="Line 2"/>
            <p:cNvSpPr/>
            <p:nvPr/>
          </p:nvSpPr>
          <p:spPr>
            <a:xfrm>
              <a:off x="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76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28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381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533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685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762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838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990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1143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219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0" y="76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0" y="152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0" y="3810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0" y="533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0" y="685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670560" y="469106"/>
            <a:ext cx="2857500" cy="784384"/>
            <a:chOff x="670560" y="469106"/>
            <a:chExt cx="2857500" cy="784384"/>
          </a:xfrm>
        </p:grpSpPr>
        <p:sp>
          <p:nvSpPr>
            <p:cNvPr id="30" name="TextBox 30"/>
            <p:cNvSpPr txBox="1"/>
            <p:nvPr/>
          </p:nvSpPr>
          <p:spPr>
            <a:xfrm>
              <a:off x="680085" y="469106"/>
              <a:ext cx="24915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spc="225" dirty="0">
                  <a:solidFill>
                    <a:srgbClr val="F0B90B"/>
                  </a:solidFill>
                  <a:latin typeface="Consolas"/>
                  <a:ea typeface="Consolas"/>
                  <a:cs typeface="Consolas"/>
                </a:rPr>
                <a:t>TAMPER-EVIDENT LEDGER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0560" y="666750"/>
              <a:ext cx="28575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EAF0FB"/>
                  </a:solidFill>
                  <a:latin typeface="Arial"/>
                  <a:ea typeface="Microsoft YaHei"/>
                  <a:cs typeface="Arial"/>
                </a:rPr>
                <a:t>防篡改审计账本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85800" y="1181100"/>
              <a:ext cx="1143000" cy="38100"/>
            </a:xfrm>
            <a:prstGeom prst="rect">
              <a:avLst/>
            </a:prstGeom>
            <a:gradFill>
              <a:gsLst>
                <a:gs pos="0">
                  <a:srgbClr val="F0B90B"/>
                </a:gs>
                <a:gs pos="100000">
                  <a:srgbClr val="22D3EE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679323" y="1595914"/>
            <a:ext cx="6121309" cy="249364"/>
            <a:chOff x="679323" y="1595914"/>
            <a:chExt cx="6121309" cy="249364"/>
          </a:xfrm>
        </p:grpSpPr>
        <p:sp>
          <p:nvSpPr>
            <p:cNvPr id="34" name="TextBox 34"/>
            <p:cNvSpPr txBox="1"/>
            <p:nvPr/>
          </p:nvSpPr>
          <p:spPr>
            <a:xfrm>
              <a:off x="679323" y="1595914"/>
              <a:ext cx="61213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22D3EE"/>
                  </a:solidFill>
                  <a:latin typeface="Consolas"/>
                  <a:ea typeface="Consolas"/>
                  <a:cs typeface="Consolas"/>
                </a:rPr>
                <a:t>hash(n) = H( hash(n-1) ‖ canonicalJSON(seq, ts, type, payload) )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85800" y="2286000"/>
            <a:ext cx="10401300" cy="800100"/>
            <a:chOff x="685800" y="2286000"/>
            <a:chExt cx="10401300" cy="800100"/>
          </a:xfrm>
        </p:grpSpPr>
        <p:sp>
          <p:nvSpPr>
            <p:cNvPr id="36" name="Rectangle 36"/>
            <p:cNvSpPr/>
            <p:nvPr/>
          </p:nvSpPr>
          <p:spPr>
            <a:xfrm>
              <a:off x="685800" y="2286000"/>
              <a:ext cx="1714500" cy="800100"/>
            </a:xfrm>
            <a:prstGeom prst="roundRect">
              <a:avLst>
                <a:gd name="adj" fmla="val 9524"/>
              </a:avLst>
            </a:prstGeom>
            <a:solidFill>
              <a:srgbClr val="111A2E"/>
            </a:solidFill>
            <a:ln w="9525">
              <a:solidFill>
                <a:srgbClr val="22304C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343358" y="2458402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8A99B8"/>
                  </a:solidFill>
                  <a:latin typeface="Consolas"/>
                  <a:ea typeface="Consolas"/>
                  <a:cs typeface="Consolas"/>
                </a:rPr>
                <a:t>seq 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330020" y="273605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EAF0FB"/>
                  </a:solidFill>
                  <a:latin typeface="Consolas"/>
                  <a:ea typeface="Consolas"/>
                  <a:cs typeface="Consolas"/>
                </a:rPr>
                <a:t>allow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2857500" y="2286000"/>
              <a:ext cx="1714500" cy="800100"/>
            </a:xfrm>
            <a:prstGeom prst="roundRect">
              <a:avLst>
                <a:gd name="adj" fmla="val 9524"/>
              </a:avLst>
            </a:prstGeom>
            <a:solidFill>
              <a:srgbClr val="111A2E"/>
            </a:solidFill>
            <a:ln w="9525">
              <a:solidFill>
                <a:srgbClr val="22304C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515058" y="2458402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8A99B8"/>
                  </a:solidFill>
                  <a:latin typeface="Consolas"/>
                  <a:ea typeface="Consolas"/>
                  <a:cs typeface="Consolas"/>
                </a:rPr>
                <a:t>seq 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543183" y="273605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EAF0FB"/>
                  </a:solidFill>
                  <a:latin typeface="Consolas"/>
                  <a:ea typeface="Consolas"/>
                  <a:cs typeface="Consolas"/>
                </a:rPr>
                <a:t>deny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029200" y="2286000"/>
              <a:ext cx="1714500" cy="800100"/>
            </a:xfrm>
            <a:prstGeom prst="roundRect">
              <a:avLst>
                <a:gd name="adj" fmla="val 9524"/>
              </a:avLst>
            </a:prstGeom>
            <a:solidFill>
              <a:srgbClr val="111A2E"/>
            </a:solidFill>
            <a:ln w="19050">
              <a:solidFill>
                <a:srgbClr val="F0616D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686758" y="2458402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8A99B8"/>
                  </a:solidFill>
                  <a:latin typeface="Consolas"/>
                  <a:ea typeface="Consolas"/>
                  <a:cs typeface="Consolas"/>
                </a:rPr>
                <a:t>seq 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673420" y="273605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F0616D"/>
                  </a:solidFill>
                  <a:latin typeface="Consolas"/>
                  <a:ea typeface="Consolas"/>
                  <a:cs typeface="Consolas"/>
                </a:rPr>
                <a:t>allow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200900" y="2286000"/>
              <a:ext cx="1714500" cy="800100"/>
            </a:xfrm>
            <a:prstGeom prst="roundRect">
              <a:avLst>
                <a:gd name="adj" fmla="val 9524"/>
              </a:avLst>
            </a:prstGeom>
            <a:solidFill>
              <a:srgbClr val="111A2E"/>
            </a:solidFill>
            <a:ln w="9525">
              <a:solidFill>
                <a:srgbClr val="22304C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858458" y="2458402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8A99B8"/>
                  </a:solidFill>
                  <a:latin typeface="Consolas"/>
                  <a:ea typeface="Consolas"/>
                  <a:cs typeface="Consolas"/>
                </a:rPr>
                <a:t>seq 4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886583" y="273605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EAF0FB"/>
                  </a:solidFill>
                  <a:latin typeface="Consolas"/>
                  <a:ea typeface="Consolas"/>
                  <a:cs typeface="Consolas"/>
                </a:rPr>
                <a:t>deny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9372600" y="2286000"/>
              <a:ext cx="1714500" cy="800100"/>
            </a:xfrm>
            <a:prstGeom prst="roundRect">
              <a:avLst>
                <a:gd name="adj" fmla="val 9524"/>
              </a:avLst>
            </a:prstGeom>
            <a:solidFill>
              <a:srgbClr val="111A2E"/>
            </a:solidFill>
            <a:ln w="9525">
              <a:solidFill>
                <a:srgbClr val="22304C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030158" y="2458402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8A99B8"/>
                  </a:solidFill>
                  <a:latin typeface="Consolas"/>
                  <a:ea typeface="Consolas"/>
                  <a:cs typeface="Consolas"/>
                </a:rPr>
                <a:t>seq 5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016820" y="273605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EAF0FB"/>
                  </a:solidFill>
                  <a:latin typeface="Consolas"/>
                  <a:ea typeface="Consolas"/>
                  <a:cs typeface="Consolas"/>
                </a:rPr>
                <a:t>allow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2400300" y="2686050"/>
              <a:ext cx="400050" cy="1"/>
            </a:xfrm>
            <a:prstGeom prst="line">
              <a:avLst/>
            </a:prstGeom>
            <a:noFill/>
            <a:ln w="19050">
              <a:solidFill>
                <a:srgbClr val="F0B90B"/>
              </a:solidFill>
              <a:tailEnd type="arrow" w="lg" len="lg"/>
            </a:ln>
          </p:spPr>
        </p:sp>
        <p:sp>
          <p:nvSpPr>
            <p:cNvPr id="52" name="Line 52"/>
            <p:cNvSpPr/>
            <p:nvPr/>
          </p:nvSpPr>
          <p:spPr>
            <a:xfrm>
              <a:off x="4572000" y="2686050"/>
              <a:ext cx="400050" cy="1"/>
            </a:xfrm>
            <a:prstGeom prst="line">
              <a:avLst/>
            </a:prstGeom>
            <a:noFill/>
            <a:ln w="19050">
              <a:solidFill>
                <a:srgbClr val="F0B90B"/>
              </a:solidFill>
              <a:tailEnd type="arrow" w="lg" len="lg"/>
            </a:ln>
          </p:spPr>
        </p:sp>
        <p:sp>
          <p:nvSpPr>
            <p:cNvPr id="53" name="Line 53"/>
            <p:cNvSpPr/>
            <p:nvPr/>
          </p:nvSpPr>
          <p:spPr>
            <a:xfrm>
              <a:off x="6743700" y="2686050"/>
              <a:ext cx="400050" cy="1"/>
            </a:xfrm>
            <a:prstGeom prst="line">
              <a:avLst/>
            </a:prstGeom>
            <a:noFill/>
            <a:ln w="19050">
              <a:solidFill>
                <a:srgbClr val="F0B90B"/>
              </a:solidFill>
              <a:tailEnd type="arrow" w="lg" len="lg"/>
            </a:ln>
          </p:spPr>
        </p:sp>
        <p:sp>
          <p:nvSpPr>
            <p:cNvPr id="54" name="Line 54"/>
            <p:cNvSpPr/>
            <p:nvPr/>
          </p:nvSpPr>
          <p:spPr>
            <a:xfrm>
              <a:off x="8915400" y="2686050"/>
              <a:ext cx="400050" cy="1"/>
            </a:xfrm>
            <a:prstGeom prst="line">
              <a:avLst/>
            </a:prstGeom>
            <a:noFill/>
            <a:ln w="19050">
              <a:solidFill>
                <a:srgbClr val="F0B90B"/>
              </a:solidFill>
              <a:tailEnd type="arrow" w="lg" len="lg"/>
            </a:ln>
          </p:spPr>
        </p:sp>
      </p:grpSp>
      <p:grpSp>
        <p:nvGrpSpPr>
          <p:cNvPr id="62" name="Group 62"/>
          <p:cNvGrpSpPr/>
          <p:nvPr/>
        </p:nvGrpSpPr>
        <p:grpSpPr>
          <a:xfrm>
            <a:off x="685800" y="3543300"/>
            <a:ext cx="5219700" cy="2171700"/>
            <a:chOff x="685800" y="3543300"/>
            <a:chExt cx="5219700" cy="2171700"/>
          </a:xfrm>
        </p:grpSpPr>
        <p:sp>
          <p:nvSpPr>
            <p:cNvPr id="56" name="Rectangle 56"/>
            <p:cNvSpPr/>
            <p:nvPr/>
          </p:nvSpPr>
          <p:spPr>
            <a:xfrm>
              <a:off x="685800" y="3543300"/>
              <a:ext cx="5219700" cy="2171700"/>
            </a:xfrm>
            <a:prstGeom prst="roundRect">
              <a:avLst>
                <a:gd name="adj" fmla="val 4386"/>
              </a:avLst>
            </a:prstGeom>
            <a:solidFill>
              <a:srgbClr val="F0616D">
                <a:alpha val="7000"/>
              </a:srgbClr>
            </a:solidFill>
            <a:ln w="9525">
              <a:solidFill>
                <a:srgbClr val="F0616D">
                  <a:alpha val="45000"/>
                </a:srgbClr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82599" y="3773329"/>
              <a:ext cx="150489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0616D"/>
                  </a:solidFill>
                  <a:latin typeface="Arial"/>
                  <a:ea typeface="Microsoft YaHei"/>
                  <a:cs typeface="Arial"/>
                </a:rPr>
                <a:t>篡改被当场检出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84123" y="4167664"/>
              <a:ext cx="3321050" cy="516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8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Demo 主动把一条历史 DENY 改写成 ALLOW ——</a:t>
              </a:r>
              <a:br/>
              <a:r>
                <a:rPr lang="zh-CN" sz="128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正是攻击者会做的事。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990600" y="4762500"/>
              <a:ext cx="4610100" cy="685800"/>
            </a:xfrm>
            <a:prstGeom prst="roundRect">
              <a:avLst>
                <a:gd name="adj" fmla="val 8333"/>
              </a:avLst>
            </a:prstGeom>
            <a:solidFill>
              <a:srgbClr val="070B14">
                <a:alpha val="60000"/>
              </a:srgbClr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137666" y="4915852"/>
              <a:ext cx="18765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F0616D"/>
                  </a:solidFill>
                  <a:latin typeface="Consolas"/>
                  <a:ea typeface="Consolas"/>
                  <a:cs typeface="Consolas"/>
                </a:rPr>
                <a:t>❌ hash mismatch at seq 3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37666" y="5163502"/>
              <a:ext cx="35091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8A99B8"/>
                  </a:solidFill>
                  <a:latin typeface="Consolas"/>
                  <a:ea typeface="Consolas"/>
                  <a:cs typeface="Consolas"/>
                </a:rPr>
                <a:t>the payload was modified after it was written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6286500" y="3543300"/>
            <a:ext cx="5219700" cy="2171700"/>
            <a:chOff x="6286500" y="3543300"/>
            <a:chExt cx="5219700" cy="2171700"/>
          </a:xfrm>
        </p:grpSpPr>
        <p:sp>
          <p:nvSpPr>
            <p:cNvPr id="63" name="Rectangle 63"/>
            <p:cNvSpPr/>
            <p:nvPr/>
          </p:nvSpPr>
          <p:spPr>
            <a:xfrm>
              <a:off x="6286500" y="3543300"/>
              <a:ext cx="5219700" cy="2171700"/>
            </a:xfrm>
            <a:prstGeom prst="roundRect">
              <a:avLst>
                <a:gd name="adj" fmla="val 4386"/>
              </a:avLst>
            </a:prstGeom>
            <a:solidFill>
              <a:srgbClr val="0D1424"/>
            </a:solidFill>
            <a:ln w="9525">
              <a:solidFill>
                <a:srgbClr val="22304C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583299" y="3773329"/>
              <a:ext cx="150489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22D3EE"/>
                  </a:solidFill>
                  <a:latin typeface="Arial"/>
                  <a:ea typeface="Microsoft YaHei"/>
                  <a:cs typeface="Arial"/>
                </a:rPr>
                <a:t>诚实的威胁模型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584823" y="4167664"/>
              <a:ext cx="33816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无密钥模式是</a:t>
              </a:r>
              <a:r>
                <a:rPr lang="zh-CN" sz="1280" dirty="0">
                  <a:solidFill>
                    <a:srgbClr val="EAF0FB"/>
                  </a:solidFill>
                  <a:latin typeface="Arial"/>
                  <a:ea typeface="Microsoft YaHei"/>
                  <a:cs typeface="Arial"/>
                </a:rPr>
                <a:t>防篡改可检测</a:t>
              </a:r>
              <a:r>
                <a:rPr lang="zh-CN" sz="128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,而非不可篡改。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584823" y="4453414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有写权限且懂算法的攻击者可以重算整条链。</a:t>
              </a:r>
            </a:p>
          </p:txBody>
        </p:sp>
        <p:sp>
          <p:nvSpPr>
            <p:cNvPr id="67" name="Line 67"/>
            <p:cNvSpPr/>
            <p:nvPr/>
          </p:nvSpPr>
          <p:spPr>
            <a:xfrm>
              <a:off x="6591300" y="4800600"/>
              <a:ext cx="4610100" cy="9525"/>
            </a:xfrm>
            <a:custGeom>
              <a:avLst/>
              <a:gdLst/>
              <a:ahLst/>
              <a:cxnLst/>
              <a:rect l="l" t="t" r="r" b="b"/>
              <a:pathLst>
                <a:path w="4610100" h="9525">
                  <a:moveTo>
                    <a:pt x="0" y="0"/>
                  </a:moveTo>
                  <a:lnTo>
                    <a:pt x="4610100" y="0"/>
                  </a:lnTo>
                </a:path>
              </a:pathLst>
            </a:custGeom>
            <a:noFill/>
            <a:ln w="9525">
              <a:solidFill>
                <a:srgbClr val="22304C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584823" y="4967764"/>
              <a:ext cx="34406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 xml:space="preserve">设置 </a:t>
              </a:r>
              <a:r>
                <a:rPr lang="en-US" sz="1280" dirty="0">
                  <a:solidFill>
                    <a:srgbClr val="F0B90B"/>
                  </a:solidFill>
                  <a:latin typeface="Consolas"/>
                  <a:ea typeface="Consolas"/>
                  <a:cs typeface="Consolas"/>
                </a:rPr>
                <a:t>AEGIS_LEDGER_KEY</a:t>
              </a:r>
              <a:r>
                <a:rPr lang="zh-CN" sz="128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 xml:space="preserve"> 启用 HMAC 模式,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584823" y="5253514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伪造将需要代理拿不到的运营者密钥。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680847" y="6305550"/>
            <a:ext cx="10830306" cy="333089"/>
            <a:chOff x="680847" y="6305550"/>
            <a:chExt cx="10830306" cy="333089"/>
          </a:xfrm>
        </p:grpSpPr>
        <p:sp>
          <p:nvSpPr>
            <p:cNvPr id="71" name="Line 71"/>
            <p:cNvSpPr/>
            <p:nvPr/>
          </p:nvSpPr>
          <p:spPr>
            <a:xfrm>
              <a:off x="685800" y="63055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22304C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80847" y="6447949"/>
              <a:ext cx="36342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8A99B8"/>
                  </a:solidFill>
                  <a:latin typeface="Consolas"/>
                  <a:ea typeface="Consolas"/>
                  <a:cs typeface="Consolas"/>
                </a:rPr>
                <a:t>AEGIS · Binance Agent OS Mini Hackathon · Track A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356127" y="644794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F0B90B"/>
                  </a:solidFill>
                  <a:latin typeface="Consolas"/>
                  <a:ea typeface="Consolas"/>
                  <a:cs typeface="Consolas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C1424"/>
            </a:gs>
            <a:gs pos="100000">
              <a:srgbClr val="070B14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9"/>
          <p:cNvGrpSpPr/>
          <p:nvPr/>
        </p:nvGrpSpPr>
        <p:grpSpPr>
          <a:xfrm>
            <a:off x="0" y="0"/>
            <a:ext cx="12201525" cy="6867525"/>
            <a:chOff x="0" y="0"/>
            <a:chExt cx="12201525" cy="6867525"/>
          </a:xfrm>
        </p:grpSpPr>
        <p:sp>
          <p:nvSpPr>
            <p:cNvPr id="2" name="Line 2"/>
            <p:cNvSpPr/>
            <p:nvPr/>
          </p:nvSpPr>
          <p:spPr>
            <a:xfrm>
              <a:off x="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76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28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381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533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685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762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838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990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1143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219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0" y="76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0" y="152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0" y="3810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0" y="533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0" y="685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670560" y="469106"/>
            <a:ext cx="1645920" cy="784384"/>
            <a:chOff x="670560" y="469106"/>
            <a:chExt cx="1645920" cy="784384"/>
          </a:xfrm>
        </p:grpSpPr>
        <p:sp>
          <p:nvSpPr>
            <p:cNvPr id="30" name="TextBox 30"/>
            <p:cNvSpPr txBox="1"/>
            <p:nvPr/>
          </p:nvSpPr>
          <p:spPr>
            <a:xfrm>
              <a:off x="680085" y="469106"/>
              <a:ext cx="12952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spc="225" dirty="0">
                  <a:solidFill>
                    <a:srgbClr val="F0B90B"/>
                  </a:solidFill>
                  <a:latin typeface="Consolas"/>
                  <a:ea typeface="Consolas"/>
                  <a:cs typeface="Consolas"/>
                </a:rPr>
                <a:t>ENGINEERING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0560" y="666750"/>
              <a:ext cx="16459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EAF0FB"/>
                  </a:solidFill>
                  <a:latin typeface="Arial"/>
                  <a:ea typeface="Microsoft YaHei"/>
                  <a:cs typeface="Arial"/>
                </a:rPr>
                <a:t>工程质量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85800" y="1181100"/>
              <a:ext cx="1143000" cy="38100"/>
            </a:xfrm>
            <a:prstGeom prst="rect">
              <a:avLst/>
            </a:prstGeom>
            <a:gradFill>
              <a:gsLst>
                <a:gs pos="0">
                  <a:srgbClr val="F0B90B"/>
                </a:gs>
                <a:gs pos="100000">
                  <a:srgbClr val="22D3EE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685800" y="1600200"/>
            <a:ext cx="2590800" cy="1809750"/>
            <a:chOff x="685800" y="1600200"/>
            <a:chExt cx="2590800" cy="1809750"/>
          </a:xfrm>
        </p:grpSpPr>
        <p:sp>
          <p:nvSpPr>
            <p:cNvPr id="34" name="Rectangle 34"/>
            <p:cNvSpPr/>
            <p:nvPr/>
          </p:nvSpPr>
          <p:spPr>
            <a:xfrm>
              <a:off x="685800" y="1600200"/>
              <a:ext cx="2590800" cy="1809750"/>
            </a:xfrm>
            <a:prstGeom prst="roundRect">
              <a:avLst>
                <a:gd name="adj" fmla="val 5263"/>
              </a:avLst>
            </a:prstGeom>
            <a:solidFill>
              <a:srgbClr val="0D1424"/>
            </a:solidFill>
            <a:ln w="9525">
              <a:solidFill>
                <a:srgbClr val="22304C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85800" y="1600200"/>
              <a:ext cx="2590800" cy="38100"/>
            </a:xfrm>
            <a:prstGeom prst="rect">
              <a:avLst/>
            </a:prstGeom>
            <a:solidFill>
              <a:srgbClr val="F0B90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495692" y="1985010"/>
              <a:ext cx="971017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200" b="1" dirty="0">
                  <a:solidFill>
                    <a:srgbClr val="F0B90B"/>
                  </a:solidFill>
                  <a:latin typeface="Consolas"/>
                  <a:ea typeface="Consolas"/>
                  <a:cs typeface="Consolas"/>
                </a:rPr>
                <a:t>333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400480" y="2684621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EAF0FB"/>
                  </a:solidFill>
                  <a:latin typeface="Arial"/>
                  <a:ea typeface="Microsoft YaHei"/>
                  <a:cs typeface="Arial"/>
                </a:rPr>
                <a:t>测试全部通过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46962" y="3010852"/>
              <a:ext cx="16684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单元 · 网关 · 尺寸 · E2E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3429000" y="1600200"/>
            <a:ext cx="2590800" cy="1809750"/>
            <a:chOff x="3429000" y="1600200"/>
            <a:chExt cx="2590800" cy="1809750"/>
          </a:xfrm>
        </p:grpSpPr>
        <p:sp>
          <p:nvSpPr>
            <p:cNvPr id="40" name="Rectangle 40"/>
            <p:cNvSpPr/>
            <p:nvPr/>
          </p:nvSpPr>
          <p:spPr>
            <a:xfrm>
              <a:off x="3429000" y="1600200"/>
              <a:ext cx="2590800" cy="1809750"/>
            </a:xfrm>
            <a:prstGeom prst="roundRect">
              <a:avLst>
                <a:gd name="adj" fmla="val 5263"/>
              </a:avLst>
            </a:prstGeom>
            <a:solidFill>
              <a:srgbClr val="0D1424"/>
            </a:solidFill>
            <a:ln w="9525">
              <a:solidFill>
                <a:srgbClr val="22304C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3429000" y="1600200"/>
              <a:ext cx="2590800" cy="38100"/>
            </a:xfrm>
            <a:prstGeom prst="rect">
              <a:avLst/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549864" y="1985010"/>
              <a:ext cx="34907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200" b="1" dirty="0">
                  <a:solidFill>
                    <a:srgbClr val="22D3EE"/>
                  </a:solidFill>
                  <a:latin typeface="Consolas"/>
                  <a:ea typeface="Consolas"/>
                  <a:cs typeface="Consolas"/>
                </a:rPr>
                <a:t>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239260" y="268462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EAF0FB"/>
                  </a:solidFill>
                  <a:latin typeface="Arial"/>
                  <a:ea typeface="Microsoft YaHei"/>
                  <a:cs typeface="Arial"/>
                </a:rPr>
                <a:t>运行时依赖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046982" y="3010852"/>
              <a:ext cx="13548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含自研 YAML 解析器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172200" y="1600200"/>
            <a:ext cx="2590800" cy="1809750"/>
            <a:chOff x="6172200" y="1600200"/>
            <a:chExt cx="2590800" cy="1809750"/>
          </a:xfrm>
        </p:grpSpPr>
        <p:sp>
          <p:nvSpPr>
            <p:cNvPr id="46" name="Rectangle 46"/>
            <p:cNvSpPr/>
            <p:nvPr/>
          </p:nvSpPr>
          <p:spPr>
            <a:xfrm>
              <a:off x="6172200" y="1600200"/>
              <a:ext cx="2590800" cy="1809750"/>
            </a:xfrm>
            <a:prstGeom prst="roundRect">
              <a:avLst>
                <a:gd name="adj" fmla="val 5263"/>
              </a:avLst>
            </a:prstGeom>
            <a:solidFill>
              <a:srgbClr val="0D1424"/>
            </a:solidFill>
            <a:ln w="9525">
              <a:solidFill>
                <a:srgbClr val="22304C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172200" y="1600200"/>
              <a:ext cx="2590800" cy="38100"/>
            </a:xfrm>
            <a:prstGeom prst="rect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137578" y="1985010"/>
              <a:ext cx="660044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200" b="1" dirty="0">
                  <a:solidFill>
                    <a:srgbClr val="34D399"/>
                  </a:solidFill>
                  <a:latin typeface="Consolas"/>
                  <a:ea typeface="Consolas"/>
                  <a:cs typeface="Consolas"/>
                </a:rPr>
                <a:t>23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982460" y="268462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EAF0FB"/>
                  </a:solidFill>
                  <a:latin typeface="Arial"/>
                  <a:ea typeface="Microsoft YaHei"/>
                  <a:cs typeface="Arial"/>
                </a:rPr>
                <a:t>确定性规则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928333" y="3010852"/>
              <a:ext cx="10785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执行链路零 LLM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915400" y="1600200"/>
            <a:ext cx="2590800" cy="1809750"/>
            <a:chOff x="8915400" y="1600200"/>
            <a:chExt cx="2590800" cy="1809750"/>
          </a:xfrm>
        </p:grpSpPr>
        <p:sp>
          <p:nvSpPr>
            <p:cNvPr id="52" name="Rectangle 52"/>
            <p:cNvSpPr/>
            <p:nvPr/>
          </p:nvSpPr>
          <p:spPr>
            <a:xfrm>
              <a:off x="8915400" y="1600200"/>
              <a:ext cx="2590800" cy="1809750"/>
            </a:xfrm>
            <a:prstGeom prst="roundRect">
              <a:avLst>
                <a:gd name="adj" fmla="val 5263"/>
              </a:avLst>
            </a:prstGeom>
            <a:solidFill>
              <a:srgbClr val="0D1424"/>
            </a:solidFill>
            <a:ln w="9525">
              <a:solidFill>
                <a:srgbClr val="22304C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8915400" y="1600200"/>
              <a:ext cx="2590800" cy="38100"/>
            </a:xfrm>
            <a:prstGeom prst="rect">
              <a:avLst/>
            </a:prstGeom>
            <a:solidFill>
              <a:srgbClr val="F0616D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880778" y="1985010"/>
              <a:ext cx="660044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200" b="1" dirty="0">
                  <a:solidFill>
                    <a:srgbClr val="F0616D"/>
                  </a:solidFill>
                  <a:latin typeface="Consolas"/>
                  <a:ea typeface="Consolas"/>
                  <a:cs typeface="Consolas"/>
                </a:rPr>
                <a:t>28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630080" y="2684621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EAF0FB"/>
                  </a:solidFill>
                  <a:latin typeface="Arial"/>
                  <a:ea typeface="Microsoft YaHei"/>
                  <a:cs typeface="Arial"/>
                </a:rPr>
                <a:t>缺陷公开记录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569386" y="301085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全部配具名回归测试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78561" y="3733800"/>
            <a:ext cx="10827639" cy="448723"/>
            <a:chOff x="678561" y="3733800"/>
            <a:chExt cx="10827639" cy="448723"/>
          </a:xfrm>
        </p:grpSpPr>
        <p:sp>
          <p:nvSpPr>
            <p:cNvPr id="58" name="Line 58"/>
            <p:cNvSpPr/>
            <p:nvPr/>
          </p:nvSpPr>
          <p:spPr>
            <a:xfrm>
              <a:off x="685800" y="37338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22304C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78561" y="390382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0B90B"/>
                  </a:solidFill>
                  <a:latin typeface="Arial"/>
                  <a:ea typeface="Microsoft YaHei"/>
                  <a:cs typeface="Arial"/>
                </a:rPr>
                <a:t>纯函数引擎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3193923" y="3920014"/>
              <a:ext cx="62179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evaluate(action, policy, context) → decision 不做 I/O、不读时钟、不改入参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78561" y="4229100"/>
            <a:ext cx="10827639" cy="448723"/>
            <a:chOff x="678561" y="4229100"/>
            <a:chExt cx="10827639" cy="448723"/>
          </a:xfrm>
        </p:grpSpPr>
        <p:sp>
          <p:nvSpPr>
            <p:cNvPr id="62" name="Line 62"/>
            <p:cNvSpPr/>
            <p:nvPr/>
          </p:nvSpPr>
          <p:spPr>
            <a:xfrm>
              <a:off x="685800" y="42291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22304C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78561" y="4399121"/>
              <a:ext cx="123595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0B90B"/>
                  </a:solidFill>
                  <a:latin typeface="Arial"/>
                  <a:ea typeface="Microsoft YaHei"/>
                  <a:cs typeface="Arial"/>
                </a:rPr>
                <a:t>真进程级 E2E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3193923" y="4415314"/>
              <a:ext cx="56580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真实 spawn CLI 与 MCP 服务器,通过 stdio 对话 —— 与 Claude Code 一致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678561" y="4724400"/>
            <a:ext cx="10827639" cy="448723"/>
            <a:chOff x="678561" y="4724400"/>
            <a:chExt cx="10827639" cy="448723"/>
          </a:xfrm>
        </p:grpSpPr>
        <p:sp>
          <p:nvSpPr>
            <p:cNvPr id="66" name="Line 66"/>
            <p:cNvSpPr/>
            <p:nvPr/>
          </p:nvSpPr>
          <p:spPr>
            <a:xfrm>
              <a:off x="685800" y="4724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22304C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78561" y="489442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0B90B"/>
                  </a:solidFill>
                  <a:latin typeface="Arial"/>
                  <a:ea typeface="Microsoft YaHei"/>
                  <a:cs typeface="Arial"/>
                </a:rPr>
                <a:t>终审关卡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3193923" y="4910614"/>
              <a:ext cx="35970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穷举 288 种组合,断言线路尺寸恒等于判定尺寸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678561" y="5219700"/>
            <a:ext cx="10827639" cy="448723"/>
            <a:chOff x="678561" y="5219700"/>
            <a:chExt cx="10827639" cy="448723"/>
          </a:xfrm>
        </p:grpSpPr>
        <p:sp>
          <p:nvSpPr>
            <p:cNvPr id="70" name="Line 70"/>
            <p:cNvSpPr/>
            <p:nvPr/>
          </p:nvSpPr>
          <p:spPr>
            <a:xfrm>
              <a:off x="685800" y="5219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22304C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78561" y="5389721"/>
              <a:ext cx="86431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0B90B"/>
                  </a:solidFill>
                  <a:latin typeface="Arial"/>
                  <a:ea typeface="Microsoft YaHei"/>
                  <a:cs typeface="Arial"/>
                </a:rPr>
                <a:t>CI 防漂移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3193923" y="5405914"/>
              <a:ext cx="51927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文档数字、能力矩阵、默认策略守卫、退出码契约全部由 CI 断言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680847" y="6305550"/>
            <a:ext cx="10830306" cy="333089"/>
            <a:chOff x="680847" y="6305550"/>
            <a:chExt cx="10830306" cy="333089"/>
          </a:xfrm>
        </p:grpSpPr>
        <p:sp>
          <p:nvSpPr>
            <p:cNvPr id="74" name="Line 74"/>
            <p:cNvSpPr/>
            <p:nvPr/>
          </p:nvSpPr>
          <p:spPr>
            <a:xfrm>
              <a:off x="685800" y="63055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22304C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80847" y="6447949"/>
              <a:ext cx="36342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8A99B8"/>
                  </a:solidFill>
                  <a:latin typeface="Consolas"/>
                  <a:ea typeface="Consolas"/>
                  <a:cs typeface="Consolas"/>
                </a:rPr>
                <a:t>AEGIS · Binance Agent OS Mini Hackathon · Track A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356127" y="644794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F0B90B"/>
                  </a:solidFill>
                  <a:latin typeface="Consolas"/>
                  <a:ea typeface="Consolas"/>
                  <a:cs typeface="Consolas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C1424"/>
            </a:gs>
            <a:gs pos="100000">
              <a:srgbClr val="070B14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9"/>
          <p:cNvGrpSpPr/>
          <p:nvPr/>
        </p:nvGrpSpPr>
        <p:grpSpPr>
          <a:xfrm>
            <a:off x="0" y="0"/>
            <a:ext cx="12201525" cy="6867525"/>
            <a:chOff x="0" y="0"/>
            <a:chExt cx="12201525" cy="6867525"/>
          </a:xfrm>
        </p:grpSpPr>
        <p:sp>
          <p:nvSpPr>
            <p:cNvPr id="2" name="Line 2"/>
            <p:cNvSpPr/>
            <p:nvPr/>
          </p:nvSpPr>
          <p:spPr>
            <a:xfrm>
              <a:off x="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76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28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381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533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685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762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838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990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1143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219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0" y="76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0" y="152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0" y="3810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0" y="533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0" y="685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670560" y="469106"/>
            <a:ext cx="4302309" cy="784384"/>
            <a:chOff x="670560" y="469106"/>
            <a:chExt cx="4302309" cy="784384"/>
          </a:xfrm>
        </p:grpSpPr>
        <p:sp>
          <p:nvSpPr>
            <p:cNvPr id="30" name="TextBox 30"/>
            <p:cNvSpPr txBox="1"/>
            <p:nvPr/>
          </p:nvSpPr>
          <p:spPr>
            <a:xfrm>
              <a:off x="680085" y="469106"/>
              <a:ext cx="15345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spc="225" dirty="0">
                  <a:solidFill>
                    <a:srgbClr val="F0B90B"/>
                  </a:solidFill>
                  <a:latin typeface="Consolas"/>
                  <a:ea typeface="Consolas"/>
                  <a:cs typeface="Consolas"/>
                </a:rPr>
                <a:t>AUDIT HISTORY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0560" y="666750"/>
              <a:ext cx="430230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EAF0FB"/>
                  </a:solidFill>
                  <a:latin typeface="Arial"/>
                  <a:ea typeface="Microsoft YaHei"/>
                  <a:cs typeface="Arial"/>
                </a:rPr>
                <a:t>四轮安全审计,全部公开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85800" y="1181100"/>
              <a:ext cx="1143000" cy="38100"/>
            </a:xfrm>
            <a:prstGeom prst="rect">
              <a:avLst/>
            </a:prstGeom>
            <a:gradFill>
              <a:gsLst>
                <a:gs pos="0">
                  <a:srgbClr val="F0B90B"/>
                </a:gs>
                <a:gs pos="100000">
                  <a:srgbClr val="22D3EE"/>
                </a:gs>
              </a:gsLst>
              <a:lin ang="0" scaled="1"/>
            </a:gradFill>
            <a:ln>
              <a:noFill/>
            </a:ln>
          </p:spPr>
        </p:sp>
      </p:grpSp>
      <p:sp>
        <p:nvSpPr>
          <p:cNvPr id="34" name="Line 34"/>
          <p:cNvSpPr/>
          <p:nvPr/>
        </p:nvSpPr>
        <p:spPr>
          <a:xfrm>
            <a:off x="1333500" y="2057400"/>
            <a:ext cx="9525" cy="3429000"/>
          </a:xfrm>
          <a:custGeom>
            <a:avLst/>
            <a:gdLst/>
            <a:ahLst/>
            <a:cxnLst/>
            <a:rect l="l" t="t" r="r" b="b"/>
            <a:pathLst>
              <a:path w="9525" h="3429000">
                <a:moveTo>
                  <a:pt x="0" y="0"/>
                </a:moveTo>
                <a:lnTo>
                  <a:pt x="0" y="3429000"/>
                </a:lnTo>
              </a:path>
            </a:pathLst>
          </a:custGeom>
          <a:noFill/>
          <a:ln w="19050">
            <a:solidFill>
              <a:srgbClr val="22304C"/>
            </a:solidFill>
          </a:ln>
        </p:spPr>
      </p:sp>
      <p:grpSp>
        <p:nvGrpSpPr>
          <p:cNvPr id="41" name="Group 41"/>
          <p:cNvGrpSpPr/>
          <p:nvPr/>
        </p:nvGrpSpPr>
        <p:grpSpPr>
          <a:xfrm>
            <a:off x="1219200" y="2009775"/>
            <a:ext cx="4705922" cy="533781"/>
            <a:chOff x="1219200" y="2009775"/>
            <a:chExt cx="4705922" cy="533781"/>
          </a:xfrm>
        </p:grpSpPr>
        <p:sp>
          <p:nvSpPr>
            <p:cNvPr id="35" name="Ellipse 35"/>
            <p:cNvSpPr/>
            <p:nvPr/>
          </p:nvSpPr>
          <p:spPr>
            <a:xfrm>
              <a:off x="1219200" y="2095500"/>
              <a:ext cx="228600" cy="228600"/>
            </a:xfrm>
            <a:prstGeom prst="ellipse">
              <a:avLst/>
            </a:prstGeom>
            <a:solidFill>
              <a:srgbClr val="F0B90B"/>
            </a:solidFill>
            <a:ln>
              <a:noFill/>
            </a:ln>
            <a:effectLst>
              <a:glow rad="57150">
                <a:srgbClr val="000000">
                  <a:alpha val="30000"/>
                </a:srgbClr>
              </a:glow>
            </a:effectLst>
          </p:spPr>
        </p:sp>
        <p:sp>
          <p:nvSpPr>
            <p:cNvPr id="36" name="Ellipse 36"/>
            <p:cNvSpPr/>
            <p:nvPr/>
          </p:nvSpPr>
          <p:spPr>
            <a:xfrm>
              <a:off x="1285875" y="2162175"/>
              <a:ext cx="95250" cy="95250"/>
            </a:xfrm>
            <a:prstGeom prst="ellipse">
              <a:avLst/>
            </a:prstGeom>
            <a:solidFill>
              <a:srgbClr val="070B14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783461" y="2017871"/>
              <a:ext cx="6453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F0B90B"/>
                  </a:solidFill>
                  <a:latin typeface="Consolas"/>
                  <a:ea typeface="Consolas"/>
                  <a:cs typeface="Consolas"/>
                </a:rPr>
                <a:t>v1.0.0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784604" y="2308860"/>
              <a:ext cx="1328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第一轮 · 外部审查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183380" y="2009775"/>
              <a:ext cx="17417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0FB"/>
                  </a:solidFill>
                  <a:latin typeface="Arial"/>
                  <a:ea typeface="Microsoft YaHei"/>
                  <a:cs typeface="Arial"/>
                </a:rPr>
                <a:t>「什么该被允许?」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185285" y="2316956"/>
              <a:ext cx="17160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A99B8"/>
                  </a:solidFill>
                  <a:latin typeface="Consolas"/>
                  <a:ea typeface="Microsoft YaHei"/>
                  <a:cs typeface="Consolas"/>
                </a:rPr>
                <a:t>7 个缺陷 · SEC-01~07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219200" y="2886075"/>
            <a:ext cx="6230493" cy="533781"/>
            <a:chOff x="1219200" y="2886075"/>
            <a:chExt cx="6230493" cy="533781"/>
          </a:xfrm>
        </p:grpSpPr>
        <p:sp>
          <p:nvSpPr>
            <p:cNvPr id="42" name="Ellipse 42"/>
            <p:cNvSpPr/>
            <p:nvPr/>
          </p:nvSpPr>
          <p:spPr>
            <a:xfrm>
              <a:off x="1219200" y="2971800"/>
              <a:ext cx="228600" cy="228600"/>
            </a:xfrm>
            <a:prstGeom prst="ellipse">
              <a:avLst/>
            </a:prstGeom>
            <a:solidFill>
              <a:srgbClr val="22D3EE"/>
            </a:solidFill>
            <a:ln>
              <a:noFill/>
            </a:ln>
            <a:effectLst>
              <a:glow rad="57150">
                <a:srgbClr val="000000">
                  <a:alpha val="30000"/>
                </a:srgbClr>
              </a:glow>
            </a:effectLst>
          </p:spPr>
        </p:sp>
        <p:sp>
          <p:nvSpPr>
            <p:cNvPr id="43" name="Ellipse 43"/>
            <p:cNvSpPr/>
            <p:nvPr/>
          </p:nvSpPr>
          <p:spPr>
            <a:xfrm>
              <a:off x="1285875" y="3038475"/>
              <a:ext cx="95250" cy="95250"/>
            </a:xfrm>
            <a:prstGeom prst="ellipse">
              <a:avLst/>
            </a:prstGeom>
            <a:solidFill>
              <a:srgbClr val="070B14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783461" y="2894171"/>
              <a:ext cx="6453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22D3EE"/>
                  </a:solidFill>
                  <a:latin typeface="Consolas"/>
                  <a:ea typeface="Consolas"/>
                  <a:cs typeface="Consolas"/>
                </a:rPr>
                <a:t>v2.0.0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784604" y="3185160"/>
              <a:ext cx="1328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第二轮 · 外部审查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183380" y="2886075"/>
              <a:ext cx="32663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0FB"/>
                  </a:solidFill>
                  <a:latin typeface="Arial"/>
                  <a:ea typeface="Microsoft YaHei"/>
                  <a:cs typeface="Arial"/>
                </a:rPr>
                <a:t>「我执行的,是我判定的那一笔吗?」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185285" y="3193256"/>
              <a:ext cx="16284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A99B8"/>
                  </a:solidFill>
                  <a:latin typeface="Consolas"/>
                  <a:ea typeface="Microsoft YaHei"/>
                  <a:cs typeface="Consolas"/>
                </a:rPr>
                <a:t>7 个缺陷 · GW-01~07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219200" y="3762375"/>
            <a:ext cx="4796790" cy="533781"/>
            <a:chOff x="1219200" y="3762375"/>
            <a:chExt cx="4796790" cy="533781"/>
          </a:xfrm>
        </p:grpSpPr>
        <p:sp>
          <p:nvSpPr>
            <p:cNvPr id="49" name="Ellipse 49"/>
            <p:cNvSpPr/>
            <p:nvPr/>
          </p:nvSpPr>
          <p:spPr>
            <a:xfrm>
              <a:off x="1219200" y="3848100"/>
              <a:ext cx="228600" cy="228600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  <a:effectLst>
              <a:glow rad="57150">
                <a:srgbClr val="000000">
                  <a:alpha val="30000"/>
                </a:srgbClr>
              </a:glow>
            </a:effectLst>
          </p:spPr>
        </p:sp>
        <p:sp>
          <p:nvSpPr>
            <p:cNvPr id="50" name="Ellipse 50"/>
            <p:cNvSpPr/>
            <p:nvPr/>
          </p:nvSpPr>
          <p:spPr>
            <a:xfrm>
              <a:off x="1285875" y="3914775"/>
              <a:ext cx="95250" cy="95250"/>
            </a:xfrm>
            <a:prstGeom prst="ellipse">
              <a:avLst/>
            </a:prstGeom>
            <a:solidFill>
              <a:srgbClr val="070B14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783461" y="3770471"/>
              <a:ext cx="6453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34D399"/>
                  </a:solidFill>
                  <a:latin typeface="Consolas"/>
                  <a:ea typeface="Consolas"/>
                  <a:cs typeface="Consolas"/>
                </a:rPr>
                <a:t>v2.1.0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784604" y="4061460"/>
              <a:ext cx="1328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第三轮 · 自我红队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183380" y="37623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0FB"/>
                  </a:solidFill>
                  <a:latin typeface="Arial"/>
                  <a:ea typeface="Microsoft YaHei"/>
                  <a:cs typeface="Arial"/>
                </a:rPr>
                <a:t>攻击自己刚写的代码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185285" y="4069556"/>
              <a:ext cx="16284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A99B8"/>
                  </a:solidFill>
                  <a:latin typeface="Consolas"/>
                  <a:ea typeface="Microsoft YaHei"/>
                  <a:cs typeface="Consolas"/>
                </a:rPr>
                <a:t>7 个缺陷 · SA-01~07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219200" y="4638675"/>
            <a:ext cx="5029010" cy="533781"/>
            <a:chOff x="1219200" y="4638675"/>
            <a:chExt cx="5029010" cy="533781"/>
          </a:xfrm>
        </p:grpSpPr>
        <p:sp>
          <p:nvSpPr>
            <p:cNvPr id="56" name="Ellipse 56"/>
            <p:cNvSpPr/>
            <p:nvPr/>
          </p:nvSpPr>
          <p:spPr>
            <a:xfrm>
              <a:off x="1219200" y="4724400"/>
              <a:ext cx="228600" cy="228600"/>
            </a:xfrm>
            <a:prstGeom prst="ellipse">
              <a:avLst/>
            </a:prstGeom>
            <a:solidFill>
              <a:srgbClr val="F0616D"/>
            </a:solidFill>
            <a:ln>
              <a:noFill/>
            </a:ln>
            <a:effectLst>
              <a:glow rad="57150">
                <a:srgbClr val="000000">
                  <a:alpha val="30000"/>
                </a:srgbClr>
              </a:glow>
            </a:effectLst>
          </p:spPr>
        </p:sp>
        <p:sp>
          <p:nvSpPr>
            <p:cNvPr id="57" name="Ellipse 57"/>
            <p:cNvSpPr/>
            <p:nvPr/>
          </p:nvSpPr>
          <p:spPr>
            <a:xfrm>
              <a:off x="1285875" y="4791075"/>
              <a:ext cx="95250" cy="95250"/>
            </a:xfrm>
            <a:prstGeom prst="ellipse">
              <a:avLst/>
            </a:prstGeom>
            <a:solidFill>
              <a:srgbClr val="070B14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783461" y="4646771"/>
              <a:ext cx="6453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F0616D"/>
                  </a:solidFill>
                  <a:latin typeface="Consolas"/>
                  <a:ea typeface="Consolas"/>
                  <a:cs typeface="Consolas"/>
                </a:rPr>
                <a:t>v2.2.0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784604" y="4937760"/>
              <a:ext cx="15145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第四轮 · 外部 + 自审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183380" y="4638675"/>
              <a:ext cx="2064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0FB"/>
                  </a:solidFill>
                  <a:latin typeface="Arial"/>
                  <a:ea typeface="Microsoft YaHei"/>
                  <a:cs typeface="Arial"/>
                </a:rPr>
                <a:t>尺寸规范化 + 执行边界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185285" y="4945856"/>
              <a:ext cx="16284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A99B8"/>
                  </a:solidFill>
                  <a:latin typeface="Consolas"/>
                  <a:ea typeface="Microsoft YaHei"/>
                  <a:cs typeface="Consolas"/>
                </a:rPr>
                <a:t>7 个缺陷 · GW-08~14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85800" y="5676900"/>
            <a:ext cx="10820400" cy="495300"/>
            <a:chOff x="685800" y="5676900"/>
            <a:chExt cx="10820400" cy="495300"/>
          </a:xfrm>
        </p:grpSpPr>
        <p:sp>
          <p:nvSpPr>
            <p:cNvPr id="63" name="Rectangle 63"/>
            <p:cNvSpPr/>
            <p:nvPr/>
          </p:nvSpPr>
          <p:spPr>
            <a:xfrm>
              <a:off x="685800" y="5676900"/>
              <a:ext cx="10820400" cy="495300"/>
            </a:xfrm>
            <a:prstGeom prst="roundRect">
              <a:avLst>
                <a:gd name="adj" fmla="val 11538"/>
              </a:avLst>
            </a:prstGeom>
            <a:solidFill>
              <a:srgbClr val="F0616D">
                <a:alpha val="9000"/>
              </a:srgbClr>
            </a:solidFill>
            <a:ln w="9525">
              <a:solidFill>
                <a:srgbClr val="F0616D">
                  <a:alpha val="40000"/>
                </a:srgbClr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83742" y="5835968"/>
              <a:ext cx="76953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0FB"/>
                  </a:solidFill>
                  <a:latin typeface="Arial"/>
                  <a:ea typeface="Microsoft YaHei"/>
                  <a:cs typeface="Arial"/>
                </a:rPr>
                <a:t xml:space="preserve">最严重的一条:一笔判定为 </a:t>
              </a:r>
              <a:r>
                <a:rPr lang="en-US" sz="1350" b="1" dirty="0">
                  <a:solidFill>
                    <a:srgbClr val="F0B90B"/>
                  </a:solidFill>
                  <a:latin typeface="Consolas"/>
                  <a:ea typeface="Consolas"/>
                  <a:cs typeface="Consolas"/>
                </a:rPr>
                <a:t>$100</a:t>
              </a:r>
              <a:r>
                <a:rPr lang="zh-CN" sz="1350" dirty="0">
                  <a:solidFill>
                    <a:srgbClr val="EAF0FB"/>
                  </a:solidFill>
                  <a:latin typeface="Arial"/>
                  <a:ea typeface="Microsoft YaHei"/>
                  <a:cs typeface="Arial"/>
                </a:rPr>
                <a:t xml:space="preserve"> 的期货单,曾会以 </a:t>
              </a:r>
              <a:r>
                <a:rPr lang="en-US" sz="1350" b="1" dirty="0">
                  <a:solidFill>
                    <a:srgbClr val="F0616D"/>
                  </a:solidFill>
                  <a:latin typeface="Consolas"/>
                  <a:ea typeface="Consolas"/>
                  <a:cs typeface="Consolas"/>
                </a:rPr>
                <a:t>100 BTC</a:t>
              </a:r>
              <a:r>
                <a:rPr lang="zh-CN" sz="1350" dirty="0">
                  <a:solidFill>
                    <a:srgbClr val="EAF0FB"/>
                  </a:solidFill>
                  <a:latin typeface="Arial"/>
                  <a:ea typeface="Microsoft YaHei"/>
                  <a:cs typeface="Arial"/>
                </a:rPr>
                <a:t xml:space="preserve"> 发出 —— 而所有风控检查都通过了。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680847" y="6305550"/>
            <a:ext cx="10830306" cy="333089"/>
            <a:chOff x="680847" y="6305550"/>
            <a:chExt cx="10830306" cy="333089"/>
          </a:xfrm>
        </p:grpSpPr>
        <p:sp>
          <p:nvSpPr>
            <p:cNvPr id="66" name="Line 66"/>
            <p:cNvSpPr/>
            <p:nvPr/>
          </p:nvSpPr>
          <p:spPr>
            <a:xfrm>
              <a:off x="685800" y="63055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22304C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80847" y="6447949"/>
              <a:ext cx="36342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8A99B8"/>
                  </a:solidFill>
                  <a:latin typeface="Consolas"/>
                  <a:ea typeface="Consolas"/>
                  <a:cs typeface="Consolas"/>
                </a:rPr>
                <a:t>AEGIS · Binance Agent OS Mini Hackathon · Track A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356127" y="644794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F0B90B"/>
                  </a:solidFill>
                  <a:latin typeface="Consolas"/>
                  <a:ea typeface="Consolas"/>
                  <a:cs typeface="Consolas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C1424"/>
            </a:gs>
            <a:gs pos="100000">
              <a:srgbClr val="070B14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9"/>
          <p:cNvGrpSpPr/>
          <p:nvPr/>
        </p:nvGrpSpPr>
        <p:grpSpPr>
          <a:xfrm>
            <a:off x="0" y="0"/>
            <a:ext cx="12201525" cy="6867525"/>
            <a:chOff x="0" y="0"/>
            <a:chExt cx="12201525" cy="6867525"/>
          </a:xfrm>
        </p:grpSpPr>
        <p:sp>
          <p:nvSpPr>
            <p:cNvPr id="2" name="Line 2"/>
            <p:cNvSpPr/>
            <p:nvPr/>
          </p:nvSpPr>
          <p:spPr>
            <a:xfrm>
              <a:off x="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76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28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381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533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685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762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838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990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1143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219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0" y="76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0" y="152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0" y="3810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0" y="533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0" y="685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2D3EE">
                  <a:alpha val="5500"/>
                </a:srgbClr>
              </a:solidFill>
            </a:ln>
          </p:spPr>
        </p:sp>
      </p:grpSp>
      <p:sp>
        <p:nvSpPr>
          <p:cNvPr id="30" name="Rectangle 30"/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gradFill>
            <a:gsLst>
              <a:gs pos="0">
                <a:srgbClr val="070B14">
                  <a:alpha val="0"/>
                </a:srgbClr>
              </a:gs>
              <a:gs pos="100000">
                <a:srgbClr val="070B14">
                  <a:alpha val="92000"/>
                </a:srgbClr>
              </a:gs>
            </a:gsLst>
            <a:lin ang="5400000" scaled="1"/>
          </a:gradFill>
          <a:ln>
            <a:noFill/>
          </a:ln>
        </p:spPr>
      </p:sp>
      <p:grpSp>
        <p:nvGrpSpPr>
          <p:cNvPr id="34" name="Group 34"/>
          <p:cNvGrpSpPr/>
          <p:nvPr/>
        </p:nvGrpSpPr>
        <p:grpSpPr>
          <a:xfrm>
            <a:off x="9048750" y="285750"/>
            <a:ext cx="3238500" cy="3238500"/>
            <a:chOff x="9048750" y="285750"/>
            <a:chExt cx="3238500" cy="3238500"/>
          </a:xfrm>
        </p:grpSpPr>
        <p:sp>
          <p:nvSpPr>
            <p:cNvPr id="31" name="Ellipse 31"/>
            <p:cNvSpPr/>
            <p:nvPr/>
          </p:nvSpPr>
          <p:spPr>
            <a:xfrm>
              <a:off x="9048750" y="285750"/>
              <a:ext cx="3238500" cy="3238500"/>
            </a:xfrm>
            <a:prstGeom prst="ellipse">
              <a:avLst/>
            </a:prstGeom>
            <a:noFill/>
            <a:ln w="9525">
              <a:solidFill>
                <a:srgbClr val="22D3EE">
                  <a:alpha val="14000"/>
                </a:srgbClr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9620250" y="857250"/>
              <a:ext cx="2095500" cy="2095500"/>
            </a:xfrm>
            <a:prstGeom prst="ellipse">
              <a:avLst/>
            </a:prstGeom>
            <a:noFill/>
            <a:ln w="9525">
              <a:solidFill>
                <a:srgbClr val="F0B90B">
                  <a:alpha val="30000"/>
                </a:srgbClr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10591800" y="1828800"/>
              <a:ext cx="152400" cy="152400"/>
            </a:xfrm>
            <a:prstGeom prst="ellipse">
              <a:avLst/>
            </a:prstGeom>
            <a:solidFill>
              <a:srgbClr val="F0B90B"/>
            </a:solidFill>
            <a:ln>
              <a:noFill/>
            </a:ln>
            <a:effectLst>
              <a:glow rad="133350">
                <a:srgbClr val="000000">
                  <a:alpha val="30000"/>
                </a:srgbClr>
              </a:glow>
            </a:effectLst>
          </p:spPr>
        </p:sp>
      </p:grpSp>
      <p:grpSp>
        <p:nvGrpSpPr>
          <p:cNvPr id="39" name="Group 39"/>
          <p:cNvGrpSpPr/>
          <p:nvPr/>
        </p:nvGrpSpPr>
        <p:grpSpPr>
          <a:xfrm>
            <a:off x="666750" y="1783556"/>
            <a:ext cx="7965765" cy="2245519"/>
            <a:chOff x="666750" y="1783556"/>
            <a:chExt cx="7965765" cy="2245519"/>
          </a:xfrm>
        </p:grpSpPr>
        <p:sp>
          <p:nvSpPr>
            <p:cNvPr id="35" name="TextBox 35"/>
            <p:cNvSpPr txBox="1"/>
            <p:nvPr/>
          </p:nvSpPr>
          <p:spPr>
            <a:xfrm>
              <a:off x="680085" y="1783556"/>
              <a:ext cx="29654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spc="300" dirty="0">
                  <a:solidFill>
                    <a:srgbClr val="F0B90B"/>
                  </a:solidFill>
                  <a:latin typeface="Consolas"/>
                  <a:ea typeface="Consolas"/>
                  <a:cs typeface="Consolas"/>
                </a:rPr>
                <a:t>MOST RISK AGENTS ADVISE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6750" y="2371725"/>
              <a:ext cx="549021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EAF0FB"/>
                  </a:solidFill>
                  <a:latin typeface="Arial"/>
                  <a:ea typeface="Microsoft YaHei"/>
                  <a:cs typeface="Arial"/>
                </a:rPr>
                <a:t>币安给了代理力量。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6750" y="3133725"/>
              <a:ext cx="7965765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F0B90B"/>
                  </a:solidFill>
                  <a:latin typeface="Arial"/>
                  <a:ea typeface="Microsoft YaHei"/>
                  <a:cs typeface="Arial"/>
                </a:rPr>
                <a:t>Aegis 让那份力量先经过你。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85800" y="3981450"/>
              <a:ext cx="2476500" cy="47625"/>
            </a:xfrm>
            <a:prstGeom prst="rect">
              <a:avLst/>
            </a:prstGeom>
            <a:gradFill>
              <a:gsLst>
                <a:gs pos="0">
                  <a:srgbClr val="F0B90B"/>
                </a:gs>
                <a:gs pos="100000">
                  <a:srgbClr val="22D3EE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685800" y="4476750"/>
            <a:ext cx="10820400" cy="1143000"/>
            <a:chOff x="685800" y="4476750"/>
            <a:chExt cx="10820400" cy="1143000"/>
          </a:xfrm>
        </p:grpSpPr>
        <p:sp>
          <p:nvSpPr>
            <p:cNvPr id="40" name="Rectangle 40"/>
            <p:cNvSpPr/>
            <p:nvPr/>
          </p:nvSpPr>
          <p:spPr>
            <a:xfrm>
              <a:off x="685800" y="4476750"/>
              <a:ext cx="5295900" cy="1143000"/>
            </a:xfrm>
            <a:prstGeom prst="roundRect">
              <a:avLst>
                <a:gd name="adj" fmla="val 8333"/>
              </a:avLst>
            </a:prstGeom>
            <a:solidFill>
              <a:srgbClr val="111A2E"/>
            </a:solidFill>
            <a:ln w="9525">
              <a:solidFill>
                <a:srgbClr val="22304C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85266" y="4744402"/>
              <a:ext cx="7689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50" dirty="0">
                  <a:solidFill>
                    <a:srgbClr val="8A99B8"/>
                  </a:solidFill>
                  <a:latin typeface="Consolas"/>
                  <a:ea typeface="Microsoft YaHei"/>
                  <a:cs typeface="Consolas"/>
                </a:rPr>
                <a:t>60 秒验证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84123" y="5063014"/>
              <a:ext cx="25718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F0B90B"/>
                  </a:solidFill>
                  <a:latin typeface="Consolas"/>
                  <a:ea typeface="Consolas"/>
                  <a:cs typeface="Consolas"/>
                </a:rPr>
                <a:t>npm install &amp;&amp; npm run demo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84885" y="5345906"/>
              <a:ext cx="26634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无需 API Key · 无需网络 · 无资金风险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210300" y="4476750"/>
              <a:ext cx="5295900" cy="1143000"/>
            </a:xfrm>
            <a:prstGeom prst="roundRect">
              <a:avLst>
                <a:gd name="adj" fmla="val 8333"/>
              </a:avLst>
            </a:prstGeom>
            <a:solidFill>
              <a:srgbClr val="111A2E"/>
            </a:solidFill>
            <a:ln w="9525">
              <a:solidFill>
                <a:srgbClr val="22304C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09766" y="4744402"/>
              <a:ext cx="12929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50" dirty="0">
                  <a:solidFill>
                    <a:srgbClr val="8A99B8"/>
                  </a:solidFill>
                  <a:latin typeface="Consolas"/>
                  <a:ea typeface="Microsoft YaHei"/>
                  <a:cs typeface="Consolas"/>
                </a:rPr>
                <a:t>开源仓库 · MIT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508623" y="5063014"/>
              <a:ext cx="32473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22D3EE"/>
                  </a:solidFill>
                  <a:latin typeface="Consolas"/>
                  <a:ea typeface="Consolas"/>
                  <a:cs typeface="Consolas"/>
                </a:rPr>
                <a:t>github.com/blueskylh/Binance_Aegis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09385" y="5345906"/>
              <a:ext cx="30646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A99B8"/>
                  </a:solidFill>
                  <a:latin typeface="Arial"/>
                  <a:ea typeface="Microsoft YaHei"/>
                  <a:cs typeface="Arial"/>
                </a:rPr>
                <a:t>333 测试 · 零运行时依赖 · 四轮审计全部公开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80847" y="6305550"/>
            <a:ext cx="10830306" cy="333089"/>
            <a:chOff x="680847" y="6305550"/>
            <a:chExt cx="10830306" cy="333089"/>
          </a:xfrm>
        </p:grpSpPr>
        <p:sp>
          <p:nvSpPr>
            <p:cNvPr id="49" name="Line 49"/>
            <p:cNvSpPr/>
            <p:nvPr/>
          </p:nvSpPr>
          <p:spPr>
            <a:xfrm>
              <a:off x="685800" y="63055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22304C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80847" y="6447949"/>
              <a:ext cx="36342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8A99B8"/>
                  </a:solidFill>
                  <a:latin typeface="Consolas"/>
                  <a:ea typeface="Consolas"/>
                  <a:cs typeface="Consolas"/>
                </a:rPr>
                <a:t>AEGIS · Binance Agent OS Mini Hackathon · Track A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356127" y="644794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F0B90B"/>
                  </a:solidFill>
                  <a:latin typeface="Consolas"/>
                  <a:ea typeface="Consolas"/>
                  <a:cs typeface="Consola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pt-aegis">
  <a:themeElements>
    <a:clrScheme name="ppt-aeg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pt-aeg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-aeg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2026-09-08T12:26:45Z</dcterms:created>
  <dcterms:modified xsi:type="dcterms:W3CDTF">2026-09-08T12:26:45Z</dcterms:modified>
  <cp:category/>
  <cp:contentStatus/>
</cp:coreProperties>
</file>